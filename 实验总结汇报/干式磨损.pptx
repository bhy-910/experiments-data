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  <p:sldId id="264" r:id="rId4"/>
    <p:sldId id="263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56" r:id="rId15"/>
    <p:sldId id="276" r:id="rId16"/>
    <p:sldId id="277" r:id="rId17"/>
    <p:sldId id="281" r:id="rId18"/>
    <p:sldId id="278" r:id="rId19"/>
    <p:sldId id="279" r:id="rId20"/>
    <p:sldId id="280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CE120430-FF25-4E39-B25C-A2D337237EC3}">
          <p14:sldIdLst>
            <p14:sldId id="261"/>
            <p14:sldId id="262"/>
          </p14:sldIdLst>
        </p14:section>
        <p14:section name="干式端铣实验" id="{7998A27B-0D1B-45D3-9A3A-C01D6608D7D0}">
          <p14:sldIdLst>
            <p14:sldId id="264"/>
            <p14:sldId id="263"/>
            <p14:sldId id="265"/>
            <p14:sldId id="266"/>
            <p14:sldId id="267"/>
          </p14:sldIdLst>
        </p14:section>
        <p14:section name="电镀磨头磨损实验" id="{928AF43C-069E-49BD-8D4B-51B172AACF72}">
          <p14:sldIdLst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液氮铣削" id="{F2A87622-60D2-44B8-A223-21840FB0FE61}">
          <p14:sldIdLst>
            <p14:sldId id="256"/>
            <p14:sldId id="276"/>
            <p14:sldId id="277"/>
            <p14:sldId id="281"/>
            <p14:sldId id="278"/>
          </p14:sldIdLst>
        </p14:section>
        <p14:section name="暑假工作总结" id="{703FD204-DFB7-450C-B0F3-557A6DDB569B}">
          <p14:sldIdLst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2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847BA6-1AB5-3262-E678-8463026F9C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617AA75-6706-CD2D-3FD5-8B7F49BC36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4312B7-4E5D-6CA3-4D7C-8CAA2BDE2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0D568-59D8-4310-AFA3-17DAB1C58C66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C0FEFE-8FB0-AF3F-90B5-93C3FEDB1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1FEDF3-177A-D454-9DA9-8E3784BD8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9861D-646C-4B47-BF26-699495B547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4664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509F0F-7AAB-C76C-22D9-BFC0DDD67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C075B5-D133-4BEF-A9FD-4DB081C5AC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8FECAA-33B4-7FC9-0106-9E53F389F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0D568-59D8-4310-AFA3-17DAB1C58C66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5D1B71-9BB5-8832-B4DC-744893908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DC089A-4756-EA44-FE3B-E8ACA5018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9861D-646C-4B47-BF26-699495B547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4505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BDFF20-6C54-344E-F812-03986C575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3B7BCA-98B7-9DA6-CFD2-D61DDBA6CD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2871FB-4B62-789C-7B2B-10E4FB49D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0D568-59D8-4310-AFA3-17DAB1C58C66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EE460F-764B-B0AE-5499-B21DAEEBC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D03DA6-529E-B503-9719-9FC720471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9861D-646C-4B47-BF26-699495B547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8171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5953DD-C118-B15D-28D1-702AF80F8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4A3F6E-7F18-AEAE-8EFB-F31C7C6F62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DCF89E3-2784-D6D1-E91D-0AC01A56E5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FA71A34-2DFA-D024-5420-9C445648E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0D568-59D8-4310-AFA3-17DAB1C58C66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282DB18-0F34-B429-850F-7AF2C2DC6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989B5B0-8FCD-DB7D-3775-82BC63176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9861D-646C-4B47-BF26-699495B547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4145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AB3D24-5668-175D-F64E-90A008D94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8DB94DA-57C5-ADAE-2624-41DD42CBF7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91E2B20-7941-6066-2B54-9C800F70EB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FF9EE5D-DFF2-EFCE-D76B-4330EBCC6D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1B61F37-B151-681A-3F07-B180B68E6E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E8E3905-60C6-0480-166A-D0981D47D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0D568-59D8-4310-AFA3-17DAB1C58C66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2A6C50C-2095-474A-5F37-9D39CC018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817E21B-2D6E-2499-BA4D-2A14C8CB5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9861D-646C-4B47-BF26-699495B547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7509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735271-6186-2AA7-94DB-3D5414D12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211D626-B9CF-DD23-945E-CB8B90FCD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0D568-59D8-4310-AFA3-17DAB1C58C66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ADE1B19-DE40-EE67-683B-FFD135CB0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261700B-54C1-2E2B-7F56-E0E231FC4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9861D-646C-4B47-BF26-699495B547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2210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D378980-2CB1-1EAA-03FB-1D2BBC1ED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0D568-59D8-4310-AFA3-17DAB1C58C66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BAE168C-7B31-DA64-6392-FEA48DE69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72F5228-692C-469D-A734-C5056106E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9861D-646C-4B47-BF26-699495B547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6811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A945B0-0D37-9158-B83C-A05EDC458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C2A72B-DF4C-F4DE-0A94-22C848E154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548AF4F-6651-9FAA-F522-A646117154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981505C-24FE-C0C6-2FFF-597A71666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0D568-59D8-4310-AFA3-17DAB1C58C66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43769D1-FF13-6462-A86B-460EBD6EA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ACACC9-B231-3A9E-3713-C0C7552C0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9861D-646C-4B47-BF26-699495B547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2945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E802CE-CB37-E23F-17D5-60A5FED0F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3C14080-6788-1629-8395-AFEB150F37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BAA7B1F-AC45-5045-1AE0-B64B918BFC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6CF9519-F823-47B9-3738-8E952C0BE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0D568-59D8-4310-AFA3-17DAB1C58C66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A7BFDFB-D91D-5A63-5611-E9250B073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5A19DDD-70D9-D9BF-569E-DBC3ABD9A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9861D-646C-4B47-BF26-699495B547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9990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F21056-5CBF-C424-980E-187D89D32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624399D-2BB2-D3B7-9A9E-BA8896AD53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D3FD76-16E6-E196-26B7-B30EAB3F8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0D568-59D8-4310-AFA3-17DAB1C58C66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2F9948-ECC3-07A6-9560-BDAAF392E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040E69-BB7D-D266-084C-6BB4064B4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9861D-646C-4B47-BF26-699495B547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1467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EB9E70B-95CD-1525-3443-4D31BC49D0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E50B474-3766-54E9-FDB5-FD602E9235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32D94C-F770-9E68-C116-C4713B702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0D568-59D8-4310-AFA3-17DAB1C58C66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5005B7-AC54-C5D7-2791-4F984CC1F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0DE1D5-B810-EDC3-D291-6975336F4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9861D-646C-4B47-BF26-699495B547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498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D138A39-6CE3-A448-2895-5DE508AD5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0BE56DF-9D3A-A0A3-D4FB-F6A1A83D7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C1DC24-3191-68E0-AA70-C54D765B31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C0D568-59D8-4310-AFA3-17DAB1C58C66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23330EA-7039-93E7-D8C0-442B79C042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27892F-1363-E6C1-7D6A-498640A4AA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19861D-646C-4B47-BF26-699495B547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8295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g"/><Relationship Id="rId3" Type="http://schemas.openxmlformats.org/officeDocument/2006/relationships/image" Target="../media/image10.jpg"/><Relationship Id="rId7" Type="http://schemas.openxmlformats.org/officeDocument/2006/relationships/image" Target="../media/image14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11.jpg"/><Relationship Id="rId9" Type="http://schemas.openxmlformats.org/officeDocument/2006/relationships/image" Target="../media/image16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jpg"/><Relationship Id="rId5" Type="http://schemas.openxmlformats.org/officeDocument/2006/relationships/image" Target="../media/image23.jpg"/><Relationship Id="rId4" Type="http://schemas.openxmlformats.org/officeDocument/2006/relationships/image" Target="../media/image2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jpg"/><Relationship Id="rId5" Type="http://schemas.openxmlformats.org/officeDocument/2006/relationships/image" Target="../media/image28.jpg"/><Relationship Id="rId4" Type="http://schemas.openxmlformats.org/officeDocument/2006/relationships/image" Target="../media/image27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jpg"/><Relationship Id="rId4" Type="http://schemas.openxmlformats.org/officeDocument/2006/relationships/image" Target="../media/image32.jp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jpeg"/><Relationship Id="rId5" Type="http://schemas.openxmlformats.org/officeDocument/2006/relationships/image" Target="../media/image37.jpeg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jpg"/><Relationship Id="rId4" Type="http://schemas.openxmlformats.org/officeDocument/2006/relationships/image" Target="../media/image41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jp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1119953-9422-A92E-9C6F-91C11CFDCA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08" r="29927"/>
          <a:stretch>
            <a:fillRect/>
          </a:stretch>
        </p:blipFill>
        <p:spPr>
          <a:xfrm>
            <a:off x="327259" y="298383"/>
            <a:ext cx="4362130" cy="375962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845175D-C5EF-B696-466C-BA0106E407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12" r="21402"/>
          <a:stretch>
            <a:fillRect/>
          </a:stretch>
        </p:blipFill>
        <p:spPr>
          <a:xfrm>
            <a:off x="4806777" y="298383"/>
            <a:ext cx="4188941" cy="375887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1D022ECE-2DF0-7F15-B2A3-64054EE30647}"/>
              </a:ext>
            </a:extLst>
          </p:cNvPr>
          <p:cNvSpPr txBox="1"/>
          <p:nvPr/>
        </p:nvSpPr>
        <p:spPr>
          <a:xfrm>
            <a:off x="1933832" y="4009767"/>
            <a:ext cx="673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1.8m</a:t>
            </a:r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D484048-A44A-ED81-CC96-38F47D31E0D7}"/>
              </a:ext>
            </a:extLst>
          </p:cNvPr>
          <p:cNvSpPr txBox="1"/>
          <p:nvPr/>
        </p:nvSpPr>
        <p:spPr>
          <a:xfrm>
            <a:off x="6460523" y="4009767"/>
            <a:ext cx="673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2.8m</a:t>
            </a:r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2589D05-0312-AE79-90BD-F21024661950}"/>
              </a:ext>
            </a:extLst>
          </p:cNvPr>
          <p:cNvSpPr/>
          <p:nvPr/>
        </p:nvSpPr>
        <p:spPr>
          <a:xfrm>
            <a:off x="8359346" y="1093573"/>
            <a:ext cx="556054" cy="20574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77833C2-C612-6C0E-9F95-1C9E4C4B2453}"/>
              </a:ext>
            </a:extLst>
          </p:cNvPr>
          <p:cNvSpPr/>
          <p:nvPr/>
        </p:nvSpPr>
        <p:spPr>
          <a:xfrm>
            <a:off x="3914002" y="1248032"/>
            <a:ext cx="556054" cy="20574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9D8779E-31FB-0AC3-8849-28734C3866EE}"/>
              </a:ext>
            </a:extLst>
          </p:cNvPr>
          <p:cNvSpPr txBox="1"/>
          <p:nvPr/>
        </p:nvSpPr>
        <p:spPr>
          <a:xfrm>
            <a:off x="1484384" y="4510216"/>
            <a:ext cx="803296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在切削了</a:t>
            </a:r>
            <a:r>
              <a:rPr lang="en-US" altLang="zh-CN"/>
              <a:t>1m</a:t>
            </a:r>
            <a:r>
              <a:rPr lang="zh-CN" altLang="en-US"/>
              <a:t>长度以后，可以观察到刃边缘出现磨损。</a:t>
            </a:r>
            <a:endParaRPr lang="en-US" altLang="zh-CN"/>
          </a:p>
          <a:p>
            <a:r>
              <a:rPr lang="zh-CN" altLang="en-US"/>
              <a:t>不幸的是，后续尝试更大的切深时，因为没注意观察，导致刀具断掉了。。。</a:t>
            </a:r>
            <a:endParaRPr lang="en-US" altLang="zh-CN"/>
          </a:p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2196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064C503-86C7-BA8A-6819-1C6C48C884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45" r="23733"/>
          <a:stretch>
            <a:fillRect/>
          </a:stretch>
        </p:blipFill>
        <p:spPr>
          <a:xfrm>
            <a:off x="730523" y="481912"/>
            <a:ext cx="4341877" cy="373314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F54B527-07FA-9E66-BBAB-91D52B1CE4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58" r="17735"/>
          <a:stretch>
            <a:fillRect/>
          </a:stretch>
        </p:blipFill>
        <p:spPr>
          <a:xfrm>
            <a:off x="5683277" y="481912"/>
            <a:ext cx="3763464" cy="373314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7B13250B-CCD1-C826-0BE8-FEE8D3647C7C}"/>
              </a:ext>
            </a:extLst>
          </p:cNvPr>
          <p:cNvSpPr txBox="1"/>
          <p:nvPr/>
        </p:nvSpPr>
        <p:spPr>
          <a:xfrm>
            <a:off x="944347" y="4293973"/>
            <a:ext cx="41280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刀具因为过热断掉，表面烧结了</a:t>
            </a:r>
            <a:r>
              <a:rPr lang="en-US" altLang="zh-CN"/>
              <a:t>sic</a:t>
            </a:r>
            <a:r>
              <a:rPr lang="zh-CN" altLang="en-US"/>
              <a:t>粉末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01DEF7C-E659-60A9-2FEF-F464BCD02B85}"/>
              </a:ext>
            </a:extLst>
          </p:cNvPr>
          <p:cNvSpPr txBox="1"/>
          <p:nvPr/>
        </p:nvSpPr>
        <p:spPr>
          <a:xfrm>
            <a:off x="5799589" y="4293973"/>
            <a:ext cx="3647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材料表面也出现明显的圆环形凹陷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E3316FD-9C30-DE46-B48F-884B556D96C7}"/>
              </a:ext>
            </a:extLst>
          </p:cNvPr>
          <p:cNvSpPr txBox="1"/>
          <p:nvPr/>
        </p:nvSpPr>
        <p:spPr>
          <a:xfrm>
            <a:off x="858794" y="4868563"/>
            <a:ext cx="632096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目前手头仅剩一把铣刀，制造商说最快本月</a:t>
            </a:r>
            <a:r>
              <a:rPr lang="en-US" altLang="zh-CN"/>
              <a:t>25</a:t>
            </a:r>
            <a:r>
              <a:rPr lang="zh-CN" altLang="en-US"/>
              <a:t>日能做好</a:t>
            </a:r>
            <a:r>
              <a:rPr lang="en-US" altLang="zh-CN"/>
              <a:t>5</a:t>
            </a:r>
            <a:r>
              <a:rPr lang="zh-CN" altLang="en-US"/>
              <a:t>把。</a:t>
            </a:r>
            <a:endParaRPr lang="en-US" altLang="zh-CN"/>
          </a:p>
          <a:p>
            <a:r>
              <a:rPr lang="zh-CN" altLang="en-US"/>
              <a:t>磨损间隔暂定为</a:t>
            </a:r>
            <a:r>
              <a:rPr lang="en-US" altLang="zh-CN"/>
              <a:t>1m</a:t>
            </a:r>
            <a:r>
              <a:rPr lang="zh-CN" altLang="en-US"/>
              <a:t>，时间按照当前参数是</a:t>
            </a:r>
            <a:r>
              <a:rPr lang="en-US" altLang="zh-CN"/>
              <a:t>5min</a:t>
            </a:r>
            <a:r>
              <a:rPr lang="zh-CN" altLang="en-US"/>
              <a:t>。</a:t>
            </a:r>
            <a:endParaRPr lang="en-US" altLang="zh-CN"/>
          </a:p>
          <a:p>
            <a:r>
              <a:rPr lang="zh-CN" altLang="en-US"/>
              <a:t>后续计划安这个参数做干铣的实验，安装测力仪。</a:t>
            </a:r>
            <a:endParaRPr lang="en-US" altLang="zh-CN"/>
          </a:p>
          <a:p>
            <a:r>
              <a:rPr lang="zh-CN" altLang="en-US"/>
              <a:t>然后可以做磨头磨损的实验。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52180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966A13F-973B-DEC2-2548-4F2C346EF31A}"/>
              </a:ext>
            </a:extLst>
          </p:cNvPr>
          <p:cNvSpPr txBox="1"/>
          <p:nvPr/>
        </p:nvSpPr>
        <p:spPr>
          <a:xfrm>
            <a:off x="747584" y="364524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实验设置及参数</a:t>
            </a:r>
          </a:p>
        </p:txBody>
      </p:sp>
      <p:sp>
        <p:nvSpPr>
          <p:cNvPr id="5" name="副标题 2">
            <a:extLst>
              <a:ext uri="{FF2B5EF4-FFF2-40B4-BE49-F238E27FC236}">
                <a16:creationId xmlns:a16="http://schemas.microsoft.com/office/drawing/2014/main" id="{AC44C79C-29EE-E5C5-BCEA-8E123FAE6EDA}"/>
              </a:ext>
            </a:extLst>
          </p:cNvPr>
          <p:cNvSpPr txBox="1">
            <a:spLocks/>
          </p:cNvSpPr>
          <p:nvPr/>
        </p:nvSpPr>
        <p:spPr>
          <a:xfrm>
            <a:off x="646421" y="895659"/>
            <a:ext cx="10940069" cy="55358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zh-CN" sz="1400" b="1"/>
              <a:t>机床</a:t>
            </a:r>
            <a:r>
              <a:rPr lang="zh-CN" altLang="zh-CN" sz="1400"/>
              <a:t>：数控</a:t>
            </a:r>
            <a:r>
              <a:rPr lang="en-US" altLang="zh-CN" sz="1400"/>
              <a:t>3</a:t>
            </a:r>
            <a:r>
              <a:rPr lang="zh-CN" altLang="zh-CN" sz="1400"/>
              <a:t>轴</a:t>
            </a:r>
          </a:p>
          <a:p>
            <a:r>
              <a:rPr lang="zh-CN" altLang="zh-CN" sz="1400" b="1"/>
              <a:t>刀具</a:t>
            </a:r>
            <a:r>
              <a:rPr lang="zh-CN" altLang="zh-CN" sz="1400"/>
              <a:t>：</a:t>
            </a:r>
            <a:r>
              <a:rPr lang="en-US" altLang="zh-CN" sz="1400"/>
              <a:t>PCD</a:t>
            </a:r>
            <a:r>
              <a:rPr lang="zh-CN" altLang="zh-CN" sz="1400"/>
              <a:t>微刃刀</a:t>
            </a:r>
            <a:r>
              <a:rPr lang="en-US" altLang="zh-CN" sz="1400"/>
              <a:t>D6-3-d6-50-28F-005  2</a:t>
            </a:r>
            <a:r>
              <a:rPr lang="zh-CN" altLang="zh-CN" sz="1400"/>
              <a:t>把</a:t>
            </a:r>
          </a:p>
          <a:p>
            <a:r>
              <a:rPr lang="zh-CN" altLang="zh-CN" sz="1400" b="1"/>
              <a:t>材料</a:t>
            </a:r>
            <a:r>
              <a:rPr lang="zh-CN" altLang="zh-CN" sz="1400"/>
              <a:t>：</a:t>
            </a:r>
            <a:r>
              <a:rPr lang="en-US" altLang="zh-CN" sz="1400"/>
              <a:t>SiC/SiC</a:t>
            </a:r>
            <a:r>
              <a:rPr lang="zh-CN" altLang="zh-CN" sz="1400"/>
              <a:t>复合材料 一块</a:t>
            </a:r>
            <a:r>
              <a:rPr lang="en-US" altLang="zh-CN" sz="1400"/>
              <a:t>  </a:t>
            </a:r>
            <a:r>
              <a:rPr lang="zh-CN" altLang="zh-CN" sz="1400"/>
              <a:t>规格： </a:t>
            </a:r>
            <a:r>
              <a:rPr lang="en-US" altLang="zh-CN" sz="1400"/>
              <a:t>50x50x5mm^3 </a:t>
            </a:r>
            <a:endParaRPr lang="zh-CN" altLang="zh-CN" sz="1400"/>
          </a:p>
          <a:p>
            <a:r>
              <a:rPr lang="zh-CN" altLang="zh-CN" sz="1400" b="1"/>
              <a:t>实验参数</a:t>
            </a:r>
            <a:r>
              <a:rPr lang="zh-CN" altLang="zh-CN" sz="1400"/>
              <a:t>：</a:t>
            </a:r>
            <a:r>
              <a:rPr lang="en-US" altLang="zh-CN" sz="1400"/>
              <a:t>n = 8000rpm f = 200mm/min </a:t>
            </a:r>
            <a:r>
              <a:rPr lang="zh-CN" altLang="zh-CN" sz="1400"/>
              <a:t>轴向切深</a:t>
            </a:r>
            <a:r>
              <a:rPr lang="en-US" altLang="zh-CN" sz="1400"/>
              <a:t>ap = 0.1mm</a:t>
            </a:r>
            <a:r>
              <a:rPr lang="zh-CN" altLang="zh-CN" sz="1400"/>
              <a:t>，径向切深</a:t>
            </a:r>
            <a:r>
              <a:rPr lang="en-US" altLang="zh-CN" sz="1400"/>
              <a:t>aw = 2mm</a:t>
            </a:r>
            <a:r>
              <a:rPr lang="zh-CN" altLang="zh-CN" sz="1400"/>
              <a:t>。无超声，仅进行干式铣削，直至刀具失效。</a:t>
            </a:r>
            <a:endParaRPr lang="en-US" altLang="zh-CN" sz="1400" b="1"/>
          </a:p>
          <a:p>
            <a:r>
              <a:rPr lang="zh-CN" altLang="zh-CN" sz="1400" b="1"/>
              <a:t>实验输出</a:t>
            </a:r>
            <a:r>
              <a:rPr lang="zh-CN" altLang="zh-CN" sz="1400"/>
              <a:t>：</a:t>
            </a:r>
            <a:r>
              <a:rPr lang="zh-CN" altLang="en-US" sz="1400"/>
              <a:t>每铣削一定长度（</a:t>
            </a:r>
            <a:r>
              <a:rPr lang="en-US" altLang="zh-CN" sz="1400"/>
              <a:t>1m</a:t>
            </a:r>
            <a:r>
              <a:rPr lang="zh-CN" altLang="en-US" sz="1400"/>
              <a:t>或</a:t>
            </a:r>
            <a:r>
              <a:rPr lang="en-US" altLang="zh-CN" sz="1400"/>
              <a:t>0.5m</a:t>
            </a:r>
            <a:r>
              <a:rPr lang="zh-CN" altLang="en-US" sz="1400"/>
              <a:t>），在光学显微镜下观察</a:t>
            </a:r>
            <a:r>
              <a:rPr lang="zh-CN" altLang="zh-CN" sz="1400"/>
              <a:t>刀具</a:t>
            </a:r>
            <a:r>
              <a:rPr lang="zh-CN" altLang="en-US" sz="1400"/>
              <a:t>底面</a:t>
            </a:r>
            <a:r>
              <a:rPr lang="zh-CN" altLang="zh-CN" sz="1400"/>
              <a:t>磨损情况</a:t>
            </a:r>
            <a:r>
              <a:rPr lang="zh-CN" altLang="en-US" sz="1400"/>
              <a:t>。 </a:t>
            </a:r>
            <a:endParaRPr lang="en-US" altLang="zh-CN" sz="1400"/>
          </a:p>
          <a:p>
            <a:r>
              <a:rPr lang="en-US" altLang="zh-CN" sz="1400"/>
              <a:t>                   </a:t>
            </a:r>
            <a:r>
              <a:rPr lang="zh-CN" altLang="en-US" sz="1400"/>
              <a:t>观察材料</a:t>
            </a:r>
            <a:r>
              <a:rPr lang="zh-CN" altLang="zh-CN" sz="1400"/>
              <a:t>崩边情况，表面粗糙度。</a:t>
            </a:r>
            <a:r>
              <a:rPr lang="en-US" altLang="zh-CN" sz="1400"/>
              <a:t>  </a:t>
            </a:r>
            <a:r>
              <a:rPr lang="zh-CN" altLang="zh-CN" sz="1400"/>
              <a:t>不</a:t>
            </a:r>
            <a:r>
              <a:rPr lang="zh-CN" altLang="en-US" sz="1400"/>
              <a:t>测量</a:t>
            </a:r>
            <a:r>
              <a:rPr lang="zh-CN" altLang="zh-CN" sz="1400"/>
              <a:t>切削力与温度。</a:t>
            </a:r>
          </a:p>
          <a:p>
            <a:r>
              <a:rPr lang="zh-CN" altLang="zh-CN" sz="1400" b="1"/>
              <a:t>走刀路径：</a:t>
            </a:r>
            <a:r>
              <a:rPr lang="zh-CN" altLang="zh-CN" sz="1400"/>
              <a:t> 端铣</a:t>
            </a:r>
          </a:p>
          <a:p>
            <a:endParaRPr lang="zh-CN" altLang="en-US" sz="180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6541DDE-4453-11BC-8FCE-339149C631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40" r="23732"/>
          <a:stretch>
            <a:fillRect/>
          </a:stretch>
        </p:blipFill>
        <p:spPr>
          <a:xfrm>
            <a:off x="4124437" y="3248430"/>
            <a:ext cx="2737051" cy="2349500"/>
          </a:xfrm>
          <a:prstGeom prst="rect">
            <a:avLst/>
          </a:prstGeom>
        </p:spPr>
      </p:pic>
      <p:grpSp>
        <p:nvGrpSpPr>
          <p:cNvPr id="8" name="组合 7">
            <a:extLst>
              <a:ext uri="{FF2B5EF4-FFF2-40B4-BE49-F238E27FC236}">
                <a16:creationId xmlns:a16="http://schemas.microsoft.com/office/drawing/2014/main" id="{99B70072-6735-ED01-6B3F-D62CF4A14A7D}"/>
              </a:ext>
            </a:extLst>
          </p:cNvPr>
          <p:cNvGrpSpPr/>
          <p:nvPr/>
        </p:nvGrpSpPr>
        <p:grpSpPr>
          <a:xfrm>
            <a:off x="772825" y="3248430"/>
            <a:ext cx="3259127" cy="2349500"/>
            <a:chOff x="772825" y="3248430"/>
            <a:chExt cx="3259127" cy="2349500"/>
          </a:xfrm>
        </p:grpSpPr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2112EE3A-AD41-F9EF-2405-287B741B9761}"/>
                </a:ext>
              </a:extLst>
            </p:cNvPr>
            <p:cNvGrpSpPr/>
            <p:nvPr/>
          </p:nvGrpSpPr>
          <p:grpSpPr>
            <a:xfrm>
              <a:off x="772825" y="3248430"/>
              <a:ext cx="3259127" cy="2349500"/>
              <a:chOff x="772825" y="3248430"/>
              <a:chExt cx="3259127" cy="2349500"/>
            </a:xfrm>
          </p:grpSpPr>
          <p:pic>
            <p:nvPicPr>
              <p:cNvPr id="11" name="图片 10">
                <a:extLst>
                  <a:ext uri="{FF2B5EF4-FFF2-40B4-BE49-F238E27FC236}">
                    <a16:creationId xmlns:a16="http://schemas.microsoft.com/office/drawing/2014/main" id="{7864C9BF-60FB-5BA8-BC33-C5559D85AE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2825" y="3248430"/>
                <a:ext cx="3073400" cy="23495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F2CECB24-8DAE-6DD9-4174-356112B1A71A}"/>
                  </a:ext>
                </a:extLst>
              </p:cNvPr>
              <p:cNvSpPr/>
              <p:nvPr/>
            </p:nvSpPr>
            <p:spPr>
              <a:xfrm>
                <a:off x="3181179" y="4983173"/>
                <a:ext cx="331394" cy="116601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600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DE03E890-B71F-A3A2-E445-32FF5E5BE73D}"/>
                  </a:ext>
                </a:extLst>
              </p:cNvPr>
              <p:cNvSpPr txBox="1"/>
              <p:nvPr/>
            </p:nvSpPr>
            <p:spPr>
              <a:xfrm>
                <a:off x="3117552" y="4910668"/>
                <a:ext cx="9144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50" b="1">
                    <a:latin typeface="宋体" panose="02010600030101010101" pitchFamily="2" charset="-122"/>
                    <a:ea typeface="宋体" panose="02010600030101010101" pitchFamily="2" charset="-122"/>
                  </a:rPr>
                  <a:t>8000</a:t>
                </a:r>
                <a:endParaRPr lang="zh-CN" altLang="en-US" sz="1050" b="1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CC328BE7-902A-28A7-25D7-D7B0A501B1BE}"/>
                </a:ext>
              </a:extLst>
            </p:cNvPr>
            <p:cNvSpPr/>
            <p:nvPr/>
          </p:nvSpPr>
          <p:spPr>
            <a:xfrm>
              <a:off x="3181179" y="5434129"/>
              <a:ext cx="124292" cy="13594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</a:t>
              </a:r>
              <a:endParaRPr lang="zh-CN" altLang="en-US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677857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B0F8712-9952-6B8D-D121-97C68C2A72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151" y="559915"/>
            <a:ext cx="4815015" cy="270844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CD22B8C-328C-F2E0-D411-D208DDC49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6166" y="559915"/>
            <a:ext cx="4815016" cy="2708446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E216DE3B-53B0-3874-8191-790F26AF53E9}"/>
              </a:ext>
            </a:extLst>
          </p:cNvPr>
          <p:cNvSpPr/>
          <p:nvPr/>
        </p:nvSpPr>
        <p:spPr>
          <a:xfrm>
            <a:off x="1507524" y="945292"/>
            <a:ext cx="1118287" cy="5560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6A9B661-D754-5E11-C90E-D1983F1C9E40}"/>
              </a:ext>
            </a:extLst>
          </p:cNvPr>
          <p:cNvSpPr/>
          <p:nvPr/>
        </p:nvSpPr>
        <p:spPr>
          <a:xfrm>
            <a:off x="1601228" y="1932673"/>
            <a:ext cx="1118287" cy="5560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2C50288-020C-7D59-79B6-757D770ED16B}"/>
              </a:ext>
            </a:extLst>
          </p:cNvPr>
          <p:cNvSpPr/>
          <p:nvPr/>
        </p:nvSpPr>
        <p:spPr>
          <a:xfrm>
            <a:off x="8298590" y="758781"/>
            <a:ext cx="1118287" cy="556054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A1B13D8-2CEB-7DE5-CDC3-B2C5386604EC}"/>
              </a:ext>
            </a:extLst>
          </p:cNvPr>
          <p:cNvSpPr/>
          <p:nvPr/>
        </p:nvSpPr>
        <p:spPr>
          <a:xfrm>
            <a:off x="9564130" y="1235674"/>
            <a:ext cx="920061" cy="5560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6B351EB-67C2-27C6-4C3E-2FF014623E5B}"/>
              </a:ext>
            </a:extLst>
          </p:cNvPr>
          <p:cNvSpPr txBox="1"/>
          <p:nvPr/>
        </p:nvSpPr>
        <p:spPr>
          <a:xfrm>
            <a:off x="982362" y="3268361"/>
            <a:ext cx="10549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切削</a:t>
            </a:r>
            <a:r>
              <a:rPr lang="en-US" altLang="zh-CN"/>
              <a:t>2m</a:t>
            </a:r>
            <a:r>
              <a:rPr lang="zh-CN" altLang="en-US"/>
              <a:t>后，刀尖附近粘结</a:t>
            </a:r>
            <a:r>
              <a:rPr lang="en-US" altLang="zh-CN"/>
              <a:t>sic</a:t>
            </a:r>
            <a:r>
              <a:rPr lang="zh-CN" altLang="en-US"/>
              <a:t>切屑（红框内深黑色物质），且刀尖处出现凹陷，表明发生了磨粒磨损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6029213C-D347-80D9-03D4-44C7F31946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362" y="3798332"/>
            <a:ext cx="4450492" cy="2503402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5E863990-3EF5-09B2-F01B-02A7A8EABEBB}"/>
              </a:ext>
            </a:extLst>
          </p:cNvPr>
          <p:cNvSpPr txBox="1"/>
          <p:nvPr/>
        </p:nvSpPr>
        <p:spPr>
          <a:xfrm>
            <a:off x="5527645" y="4880611"/>
            <a:ext cx="613501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/>
              <a:t>切削</a:t>
            </a:r>
            <a:r>
              <a:rPr lang="en-US" altLang="zh-CN" sz="1600"/>
              <a:t>1m</a:t>
            </a:r>
            <a:r>
              <a:rPr lang="zh-CN" altLang="en-US" sz="1600"/>
              <a:t>时，刀刃较为完整</a:t>
            </a:r>
            <a:endParaRPr lang="en-US" altLang="zh-CN" sz="1600"/>
          </a:p>
          <a:p>
            <a:endParaRPr lang="en-US" altLang="zh-CN" sz="1600"/>
          </a:p>
          <a:p>
            <a:endParaRPr lang="en-US" altLang="zh-CN" sz="1600"/>
          </a:p>
          <a:p>
            <a:endParaRPr lang="en-US" altLang="zh-CN" sz="1600"/>
          </a:p>
          <a:p>
            <a:r>
              <a:rPr lang="zh-CN" altLang="en-US" sz="1600"/>
              <a:t>注：以上图片均为加工后使用气枪吹过之后拍摄，有大量切屑黏附</a:t>
            </a:r>
          </a:p>
        </p:txBody>
      </p:sp>
    </p:spTree>
    <p:extLst>
      <p:ext uri="{BB962C8B-B14F-4D97-AF65-F5344CB8AC3E}">
        <p14:creationId xmlns:p14="http://schemas.microsoft.com/office/powerpoint/2010/main" val="1211009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734FC089-5BEA-FE44-DA58-2379E2CF92B3}"/>
              </a:ext>
            </a:extLst>
          </p:cNvPr>
          <p:cNvSpPr txBox="1"/>
          <p:nvPr/>
        </p:nvSpPr>
        <p:spPr>
          <a:xfrm>
            <a:off x="747584" y="364524"/>
            <a:ext cx="4136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不同铣削长度下刀具底面磨损情况对比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5D84366-37CB-9BB9-A210-A85DD468F0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77" r="29828"/>
          <a:stretch>
            <a:fillRect/>
          </a:stretch>
        </p:blipFill>
        <p:spPr>
          <a:xfrm>
            <a:off x="908130" y="733855"/>
            <a:ext cx="2030562" cy="2155297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FD275813-EF8F-14FF-58B5-E4DEBCC12332}"/>
              </a:ext>
            </a:extLst>
          </p:cNvPr>
          <p:cNvSpPr txBox="1"/>
          <p:nvPr/>
        </p:nvSpPr>
        <p:spPr>
          <a:xfrm>
            <a:off x="980684" y="2889152"/>
            <a:ext cx="18854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1m</a:t>
            </a:r>
            <a:r>
              <a:rPr lang="zh-CN" altLang="en-US"/>
              <a:t>，几乎无磨损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C9EF9CAE-058D-4AB3-F8EF-467662C9DB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413" b="23219"/>
          <a:stretch>
            <a:fillRect/>
          </a:stretch>
        </p:blipFill>
        <p:spPr>
          <a:xfrm>
            <a:off x="3358201" y="733855"/>
            <a:ext cx="4171207" cy="2155296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62478428-38EC-E582-D2FE-7B7674F93F5E}"/>
              </a:ext>
            </a:extLst>
          </p:cNvPr>
          <p:cNvSpPr/>
          <p:nvPr/>
        </p:nvSpPr>
        <p:spPr>
          <a:xfrm>
            <a:off x="5713423" y="1904474"/>
            <a:ext cx="428823" cy="4351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D80ACBF-D522-545D-FD0B-2198025B6BCC}"/>
              </a:ext>
            </a:extLst>
          </p:cNvPr>
          <p:cNvSpPr/>
          <p:nvPr/>
        </p:nvSpPr>
        <p:spPr>
          <a:xfrm>
            <a:off x="6640436" y="1376374"/>
            <a:ext cx="428823" cy="4351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47C4E754-2EB3-72A8-6C81-B1018620F5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413" b="23219"/>
          <a:stretch>
            <a:fillRect/>
          </a:stretch>
        </p:blipFill>
        <p:spPr>
          <a:xfrm>
            <a:off x="3358201" y="733854"/>
            <a:ext cx="4171207" cy="2155296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8635DC68-BB8D-A31D-5BE2-6594BD61596B}"/>
              </a:ext>
            </a:extLst>
          </p:cNvPr>
          <p:cNvSpPr/>
          <p:nvPr/>
        </p:nvSpPr>
        <p:spPr>
          <a:xfrm>
            <a:off x="6640436" y="1376373"/>
            <a:ext cx="428823" cy="4351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63655A78-0B8F-81F5-94F2-EB140E4C6D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413" b="23219"/>
          <a:stretch>
            <a:fillRect/>
          </a:stretch>
        </p:blipFill>
        <p:spPr>
          <a:xfrm>
            <a:off x="3391150" y="733854"/>
            <a:ext cx="4171207" cy="2155296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7DD390FF-BCD4-D926-DBB3-7CDFE24110FB}"/>
              </a:ext>
            </a:extLst>
          </p:cNvPr>
          <p:cNvSpPr/>
          <p:nvPr/>
        </p:nvSpPr>
        <p:spPr>
          <a:xfrm>
            <a:off x="6673385" y="1376373"/>
            <a:ext cx="428823" cy="4351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F26CFC0-18C2-7644-A637-3D7EA6D65260}"/>
              </a:ext>
            </a:extLst>
          </p:cNvPr>
          <p:cNvSpPr/>
          <p:nvPr/>
        </p:nvSpPr>
        <p:spPr>
          <a:xfrm>
            <a:off x="5746372" y="1904474"/>
            <a:ext cx="428823" cy="4351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2A76599-AE4A-7DD8-5954-EBBDF274B25E}"/>
              </a:ext>
            </a:extLst>
          </p:cNvPr>
          <p:cNvSpPr/>
          <p:nvPr/>
        </p:nvSpPr>
        <p:spPr>
          <a:xfrm>
            <a:off x="4737379" y="2339603"/>
            <a:ext cx="428823" cy="4351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040E3E1-CC61-F6D3-E733-DD3C4E7A5F22}"/>
              </a:ext>
            </a:extLst>
          </p:cNvPr>
          <p:cNvSpPr txBox="1"/>
          <p:nvPr/>
        </p:nvSpPr>
        <p:spPr>
          <a:xfrm>
            <a:off x="3693164" y="2890059"/>
            <a:ext cx="35012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2m</a:t>
            </a:r>
            <a:r>
              <a:rPr lang="zh-CN" altLang="en-US"/>
              <a:t>，出现明显缺口（磨粒磨损）</a:t>
            </a:r>
          </a:p>
        </p:txBody>
      </p:sp>
      <p:sp>
        <p:nvSpPr>
          <p:cNvPr id="25" name="弧形 24">
            <a:extLst>
              <a:ext uri="{FF2B5EF4-FFF2-40B4-BE49-F238E27FC236}">
                <a16:creationId xmlns:a16="http://schemas.microsoft.com/office/drawing/2014/main" id="{175CC0F3-8155-433A-95D3-DB557DDB9DBF}"/>
              </a:ext>
            </a:extLst>
          </p:cNvPr>
          <p:cNvSpPr/>
          <p:nvPr/>
        </p:nvSpPr>
        <p:spPr>
          <a:xfrm rot="9676884">
            <a:off x="5845107" y="1447274"/>
            <a:ext cx="914400" cy="914400"/>
          </a:xfrm>
          <a:prstGeom prst="arc">
            <a:avLst>
              <a:gd name="adj1" fmla="val 19194909"/>
              <a:gd name="adj2" fmla="val 0"/>
            </a:avLst>
          </a:prstGeom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弧形 25">
            <a:extLst>
              <a:ext uri="{FF2B5EF4-FFF2-40B4-BE49-F238E27FC236}">
                <a16:creationId xmlns:a16="http://schemas.microsoft.com/office/drawing/2014/main" id="{C7E067A5-BBE6-4533-81B8-EDD4BB507BB8}"/>
              </a:ext>
            </a:extLst>
          </p:cNvPr>
          <p:cNvSpPr/>
          <p:nvPr/>
        </p:nvSpPr>
        <p:spPr>
          <a:xfrm rot="10507908">
            <a:off x="4867248" y="1905640"/>
            <a:ext cx="914400" cy="914400"/>
          </a:xfrm>
          <a:prstGeom prst="arc">
            <a:avLst>
              <a:gd name="adj1" fmla="val 19194909"/>
              <a:gd name="adj2" fmla="val 0"/>
            </a:avLst>
          </a:prstGeom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C57FEB54-39D1-518B-DE39-9542FBDAFC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86" r="43104" b="3172"/>
          <a:stretch>
            <a:fillRect/>
          </a:stretch>
        </p:blipFill>
        <p:spPr>
          <a:xfrm>
            <a:off x="7843422" y="754622"/>
            <a:ext cx="1793010" cy="2155297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9B5A054A-50CF-1C2F-D2AF-4F17CDC61D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31" r="50844"/>
          <a:stretch>
            <a:fillRect/>
          </a:stretch>
        </p:blipFill>
        <p:spPr>
          <a:xfrm>
            <a:off x="9636432" y="743034"/>
            <a:ext cx="1666252" cy="2178472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457840E1-5EFE-599C-3CEF-FCEC83B25006}"/>
              </a:ext>
            </a:extLst>
          </p:cNvPr>
          <p:cNvSpPr txBox="1"/>
          <p:nvPr/>
        </p:nvSpPr>
        <p:spPr>
          <a:xfrm>
            <a:off x="7799230" y="2950315"/>
            <a:ext cx="36744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3.2m</a:t>
            </a:r>
            <a:r>
              <a:rPr lang="zh-CN" altLang="en-US"/>
              <a:t>，缺口向刀具底面中心扩大，</a:t>
            </a:r>
            <a:endParaRPr lang="en-US" altLang="zh-CN"/>
          </a:p>
          <a:p>
            <a:r>
              <a:rPr lang="zh-CN" altLang="en-US"/>
              <a:t>同时出现凹坑，表明出现粘结磨损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BF150BF-B98F-26C1-58E1-F0E1543524D9}"/>
              </a:ext>
            </a:extLst>
          </p:cNvPr>
          <p:cNvSpPr/>
          <p:nvPr/>
        </p:nvSpPr>
        <p:spPr>
          <a:xfrm>
            <a:off x="9780927" y="838726"/>
            <a:ext cx="359098" cy="20179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7145B93-50CC-3338-2F5C-D4B781CB79C1}"/>
              </a:ext>
            </a:extLst>
          </p:cNvPr>
          <p:cNvSpPr/>
          <p:nvPr/>
        </p:nvSpPr>
        <p:spPr>
          <a:xfrm>
            <a:off x="9893772" y="1609704"/>
            <a:ext cx="359098" cy="20179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E0A4F64-23A5-F4EE-821B-7D736AE1FF70}"/>
              </a:ext>
            </a:extLst>
          </p:cNvPr>
          <p:cNvSpPr/>
          <p:nvPr/>
        </p:nvSpPr>
        <p:spPr>
          <a:xfrm>
            <a:off x="8175699" y="1668312"/>
            <a:ext cx="359098" cy="20179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C138D024-7E77-149A-55DB-489A498D7B1C}"/>
              </a:ext>
            </a:extLst>
          </p:cNvPr>
          <p:cNvCxnSpPr/>
          <p:nvPr/>
        </p:nvCxnSpPr>
        <p:spPr>
          <a:xfrm flipV="1">
            <a:off x="8355248" y="549190"/>
            <a:ext cx="984244" cy="1060514"/>
          </a:xfrm>
          <a:prstGeom prst="line">
            <a:avLst/>
          </a:prstGeom>
          <a:ln w="190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462A4B13-1125-4375-5005-53474A1C5715}"/>
              </a:ext>
            </a:extLst>
          </p:cNvPr>
          <p:cNvCxnSpPr>
            <a:cxnSpLocks/>
          </p:cNvCxnSpPr>
          <p:nvPr/>
        </p:nvCxnSpPr>
        <p:spPr>
          <a:xfrm flipH="1" flipV="1">
            <a:off x="9483987" y="544672"/>
            <a:ext cx="602588" cy="292956"/>
          </a:xfrm>
          <a:prstGeom prst="line">
            <a:avLst/>
          </a:prstGeom>
          <a:ln w="190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386F3792-E87D-5FDA-0D1E-201874C6CD4C}"/>
              </a:ext>
            </a:extLst>
          </p:cNvPr>
          <p:cNvCxnSpPr>
            <a:cxnSpLocks/>
          </p:cNvCxnSpPr>
          <p:nvPr/>
        </p:nvCxnSpPr>
        <p:spPr>
          <a:xfrm flipH="1" flipV="1">
            <a:off x="9409209" y="615955"/>
            <a:ext cx="682008" cy="944809"/>
          </a:xfrm>
          <a:prstGeom prst="line">
            <a:avLst/>
          </a:prstGeom>
          <a:ln w="190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36902131-5617-BEC5-3AC6-08C0ABBC0F03}"/>
              </a:ext>
            </a:extLst>
          </p:cNvPr>
          <p:cNvSpPr txBox="1"/>
          <p:nvPr/>
        </p:nvSpPr>
        <p:spPr>
          <a:xfrm>
            <a:off x="8885207" y="339227"/>
            <a:ext cx="16886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磨粒磨损加剧</a:t>
            </a:r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290111A5-F836-B511-493F-4A1AA1141669}"/>
              </a:ext>
            </a:extLst>
          </p:cNvPr>
          <p:cNvSpPr/>
          <p:nvPr/>
        </p:nvSpPr>
        <p:spPr>
          <a:xfrm>
            <a:off x="8493556" y="2582217"/>
            <a:ext cx="274974" cy="274974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14C828F2-F257-AF63-3F58-63B4D02C2FF6}"/>
              </a:ext>
            </a:extLst>
          </p:cNvPr>
          <p:cNvSpPr/>
          <p:nvPr/>
        </p:nvSpPr>
        <p:spPr>
          <a:xfrm>
            <a:off x="10241497" y="2484216"/>
            <a:ext cx="274974" cy="274974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8" name="图片 47">
            <a:extLst>
              <a:ext uri="{FF2B5EF4-FFF2-40B4-BE49-F238E27FC236}">
                <a16:creationId xmlns:a16="http://schemas.microsoft.com/office/drawing/2014/main" id="{2A3C6314-C92B-8629-E5F1-A0A47722294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74" r="25299"/>
          <a:stretch>
            <a:fillRect/>
          </a:stretch>
        </p:blipFill>
        <p:spPr>
          <a:xfrm>
            <a:off x="908130" y="3328100"/>
            <a:ext cx="2272406" cy="2695145"/>
          </a:xfrm>
          <a:prstGeom prst="rect">
            <a:avLst/>
          </a:prstGeom>
        </p:spPr>
      </p:pic>
      <p:pic>
        <p:nvPicPr>
          <p:cNvPr id="50" name="图片 49">
            <a:extLst>
              <a:ext uri="{FF2B5EF4-FFF2-40B4-BE49-F238E27FC236}">
                <a16:creationId xmlns:a16="http://schemas.microsoft.com/office/drawing/2014/main" id="{B031E746-7AEE-B047-77E0-BA99B053A89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28" t="8982" r="27174"/>
          <a:stretch>
            <a:fillRect/>
          </a:stretch>
        </p:blipFill>
        <p:spPr>
          <a:xfrm>
            <a:off x="3180536" y="3328100"/>
            <a:ext cx="2279276" cy="2695145"/>
          </a:xfrm>
          <a:prstGeom prst="rect">
            <a:avLst/>
          </a:prstGeom>
        </p:spPr>
      </p:pic>
      <p:sp>
        <p:nvSpPr>
          <p:cNvPr id="51" name="文本框 50">
            <a:extLst>
              <a:ext uri="{FF2B5EF4-FFF2-40B4-BE49-F238E27FC236}">
                <a16:creationId xmlns:a16="http://schemas.microsoft.com/office/drawing/2014/main" id="{183986C4-824A-DCCA-492B-7F6AB6602350}"/>
              </a:ext>
            </a:extLst>
          </p:cNvPr>
          <p:cNvSpPr txBox="1"/>
          <p:nvPr/>
        </p:nvSpPr>
        <p:spPr>
          <a:xfrm>
            <a:off x="1343334" y="6091954"/>
            <a:ext cx="3905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3.7m</a:t>
            </a:r>
            <a:r>
              <a:rPr lang="zh-CN" altLang="en-US"/>
              <a:t>，凹坑数量增多，粘结磨损加剧</a:t>
            </a:r>
          </a:p>
        </p:txBody>
      </p:sp>
      <p:pic>
        <p:nvPicPr>
          <p:cNvPr id="53" name="图片 52">
            <a:extLst>
              <a:ext uri="{FF2B5EF4-FFF2-40B4-BE49-F238E27FC236}">
                <a16:creationId xmlns:a16="http://schemas.microsoft.com/office/drawing/2014/main" id="{7968C1AE-6AC9-DAB8-E4A4-A35B5B77119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879" t="11004" r="24130"/>
          <a:stretch>
            <a:fillRect/>
          </a:stretch>
        </p:blipFill>
        <p:spPr>
          <a:xfrm>
            <a:off x="6142246" y="3531668"/>
            <a:ext cx="1975248" cy="2536012"/>
          </a:xfrm>
          <a:prstGeom prst="rect">
            <a:avLst/>
          </a:prstGeom>
        </p:spPr>
      </p:pic>
      <p:pic>
        <p:nvPicPr>
          <p:cNvPr id="55" name="图片 54">
            <a:extLst>
              <a:ext uri="{FF2B5EF4-FFF2-40B4-BE49-F238E27FC236}">
                <a16:creationId xmlns:a16="http://schemas.microsoft.com/office/drawing/2014/main" id="{00114D72-72E8-9761-61F0-27CA15BC62D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43" r="43149"/>
          <a:stretch>
            <a:fillRect/>
          </a:stretch>
        </p:blipFill>
        <p:spPr>
          <a:xfrm>
            <a:off x="8076340" y="3531668"/>
            <a:ext cx="1943536" cy="2536012"/>
          </a:xfrm>
          <a:prstGeom prst="rect">
            <a:avLst/>
          </a:prstGeom>
        </p:spPr>
      </p:pic>
      <p:sp>
        <p:nvSpPr>
          <p:cNvPr id="56" name="文本框 55">
            <a:extLst>
              <a:ext uri="{FF2B5EF4-FFF2-40B4-BE49-F238E27FC236}">
                <a16:creationId xmlns:a16="http://schemas.microsoft.com/office/drawing/2014/main" id="{8EFF0B64-F6DE-2A07-5EB0-2B44AB976003}"/>
              </a:ext>
            </a:extLst>
          </p:cNvPr>
          <p:cNvSpPr txBox="1"/>
          <p:nvPr/>
        </p:nvSpPr>
        <p:spPr>
          <a:xfrm>
            <a:off x="6181339" y="6124144"/>
            <a:ext cx="4136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4.2m</a:t>
            </a:r>
            <a:r>
              <a:rPr lang="zh-CN" altLang="en-US"/>
              <a:t>，刀具大面积崩碎，磨粒大量流失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6016689C-A646-50C6-CD5A-D3445FB127DC}"/>
              </a:ext>
            </a:extLst>
          </p:cNvPr>
          <p:cNvCxnSpPr/>
          <p:nvPr/>
        </p:nvCxnSpPr>
        <p:spPr>
          <a:xfrm flipV="1">
            <a:off x="6567616" y="4738816"/>
            <a:ext cx="222422" cy="5560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088F71F8-98FC-FAB3-658E-3C9318DCE05D}"/>
              </a:ext>
            </a:extLst>
          </p:cNvPr>
          <p:cNvSpPr txBox="1"/>
          <p:nvPr/>
        </p:nvSpPr>
        <p:spPr>
          <a:xfrm>
            <a:off x="6427878" y="4281873"/>
            <a:ext cx="425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</a:rPr>
              <a:t>vb</a:t>
            </a:r>
            <a:endParaRPr lang="zh-CN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8494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305F6C0C-C840-0149-F6E2-1549446E0941}"/>
              </a:ext>
            </a:extLst>
          </p:cNvPr>
          <p:cNvSpPr txBox="1"/>
          <p:nvPr/>
        </p:nvSpPr>
        <p:spPr>
          <a:xfrm>
            <a:off x="552092" y="320382"/>
            <a:ext cx="1114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实验总结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D9C3E6C-7971-2107-43CA-DE2D41F35363}"/>
              </a:ext>
            </a:extLst>
          </p:cNvPr>
          <p:cNvSpPr txBox="1"/>
          <p:nvPr/>
        </p:nvSpPr>
        <p:spPr>
          <a:xfrm>
            <a:off x="692600" y="856940"/>
            <a:ext cx="1065588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实验流程：在固定参数下进行端铣，先是每隔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1m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铣削长度就在显微镜下拍摄，观察到明显磨损后缩短间隔为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0.5m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buAutoNum type="arabicPeriod"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刀具磨损情况总结：初期阶段以磨粒磨损为主，绝大部分刃突出的圆弧状部分最先被磨平。之后，磨粒磨损继续向内，表现为刃边上的凹坑。 在铣削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3m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的时候，约有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40%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的切削刃出现粘结磨损，即在加工过程中，刀具表面的磨粒与切屑粘结在一起，随着切屑一起脱落。刀刃表面不再是仅有磨粒磨损时一样的平滑，而是出现内部凹陷，表明其内部的磨粒与表面的磨粒一起脱落。在铣削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3.7m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时，约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70%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的刀刃出现粘结磨损，且原先出现粘结磨损的刃表面的凹陷增加。在铣削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4.2m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时，约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20%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的刃出现大块崩碎，可认为已失效。 粘结磨损消失了，因为已进入剧烈磨损阶段，其表面本就不稳固的磨粒被轻易的磨掉了。 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buAutoNum type="arabicPeriod"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表面粗糙度分析：经测量，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Ra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值为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1.564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微米。尽管刀尖磨损剧烈，好在底刃对已加工表面仍有修正作用，表面仍属于精加工范畴。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buAutoNum type="arabicPeriod"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刀具磨损阶段与磨损形式： 初期（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2m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内），以磨粒磨损为主。 稳定磨损阶段（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2-3.7m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），磨粒磨损与粘结磨损并存。 剧烈磨损阶段（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3.7m——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），磨粒大量流失，刀刃崩碎。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buFontTx/>
              <a:buAutoNum type="arabicPeriod"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不足：以上对于磨损情况的分析并不准确，还需进一步文献调研，对磨损形式的认识不完备。对于刀具底面的图像分析较浅显，还需进一步提取有效信息。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buAutoNum type="arabicPeriod"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后续计划：通过本次实验，确定较合适的观察间隔在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0.5-0.6m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，考虑测量切削力，收集切屑，进入不同磨损阶段后测量表面粗糙度。 通过图像分析工具量化磨损值。 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446443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D05A4F2-39F5-20C5-1978-E6D567A832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092" y="605609"/>
            <a:ext cx="5583277" cy="314059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4582B6B-DDC1-C1D1-5BEF-45E94D1AF4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9291" y="605609"/>
            <a:ext cx="5583276" cy="3140593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4EDDA0F5-CE60-C6D6-372C-4B670CC6F80D}"/>
              </a:ext>
            </a:extLst>
          </p:cNvPr>
          <p:cNvSpPr txBox="1"/>
          <p:nvPr/>
        </p:nvSpPr>
        <p:spPr>
          <a:xfrm>
            <a:off x="805560" y="3795821"/>
            <a:ext cx="10259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材料表面情况。无崩边，表面很光滑（因为底刃修整），需要测粗糙度，或者用精密仪器拍摄表面</a:t>
            </a:r>
          </a:p>
        </p:txBody>
      </p:sp>
    </p:spTree>
    <p:extLst>
      <p:ext uri="{BB962C8B-B14F-4D97-AF65-F5344CB8AC3E}">
        <p14:creationId xmlns:p14="http://schemas.microsoft.com/office/powerpoint/2010/main" val="8529109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3D6A7-B9D4-CB78-9612-188C71991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0361225-AE35-1E4E-2083-686A8B5E22E5}"/>
              </a:ext>
            </a:extLst>
          </p:cNvPr>
          <p:cNvSpPr txBox="1"/>
          <p:nvPr/>
        </p:nvSpPr>
        <p:spPr>
          <a:xfrm>
            <a:off x="747584" y="364524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实验设置及参数</a:t>
            </a:r>
          </a:p>
        </p:txBody>
      </p:sp>
      <p:sp>
        <p:nvSpPr>
          <p:cNvPr id="5" name="副标题 2">
            <a:extLst>
              <a:ext uri="{FF2B5EF4-FFF2-40B4-BE49-F238E27FC236}">
                <a16:creationId xmlns:a16="http://schemas.microsoft.com/office/drawing/2014/main" id="{850269B7-14C1-4857-2C1B-604374E0DD62}"/>
              </a:ext>
            </a:extLst>
          </p:cNvPr>
          <p:cNvSpPr txBox="1">
            <a:spLocks/>
          </p:cNvSpPr>
          <p:nvPr/>
        </p:nvSpPr>
        <p:spPr>
          <a:xfrm>
            <a:off x="646421" y="895659"/>
            <a:ext cx="10940069" cy="55358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zh-CN" sz="1400" b="1"/>
              <a:t>机床</a:t>
            </a:r>
            <a:r>
              <a:rPr lang="zh-CN" altLang="zh-CN" sz="1400"/>
              <a:t>：数控</a:t>
            </a:r>
            <a:r>
              <a:rPr lang="en-US" altLang="zh-CN" sz="1400"/>
              <a:t>3</a:t>
            </a:r>
            <a:r>
              <a:rPr lang="zh-CN" altLang="zh-CN" sz="1400"/>
              <a:t>轴</a:t>
            </a:r>
          </a:p>
          <a:p>
            <a:r>
              <a:rPr lang="zh-CN" altLang="zh-CN" sz="1400" b="1"/>
              <a:t>刀具</a:t>
            </a:r>
            <a:r>
              <a:rPr lang="zh-CN" altLang="zh-CN" sz="1400"/>
              <a:t>：</a:t>
            </a:r>
            <a:r>
              <a:rPr lang="zh-CN" altLang="en-US" sz="1400"/>
              <a:t>电镀金刚石磨头 </a:t>
            </a:r>
            <a:r>
              <a:rPr lang="en-US" altLang="zh-CN" sz="1400"/>
              <a:t>x3</a:t>
            </a:r>
            <a:r>
              <a:rPr lang="zh-CN" altLang="en-US" sz="1400"/>
              <a:t>， 目数</a:t>
            </a:r>
            <a:r>
              <a:rPr lang="en-US" altLang="zh-CN" sz="1400"/>
              <a:t>100</a:t>
            </a:r>
            <a:r>
              <a:rPr lang="zh-CN" altLang="en-US" sz="1400"/>
              <a:t>、</a:t>
            </a:r>
            <a:r>
              <a:rPr lang="en-US" altLang="zh-CN" sz="1400"/>
              <a:t>200</a:t>
            </a:r>
            <a:r>
              <a:rPr lang="zh-CN" altLang="en-US" sz="1400"/>
              <a:t>、</a:t>
            </a:r>
            <a:r>
              <a:rPr lang="en-US" altLang="zh-CN" sz="1400"/>
              <a:t>400</a:t>
            </a:r>
            <a:r>
              <a:rPr lang="zh-CN" altLang="en-US" sz="1400"/>
              <a:t>，柄径</a:t>
            </a:r>
            <a:r>
              <a:rPr lang="en-US" altLang="zh-CN" sz="1400"/>
              <a:t>6mm</a:t>
            </a:r>
            <a:r>
              <a:rPr lang="zh-CN" altLang="en-US" sz="1400"/>
              <a:t>，磨头直径</a:t>
            </a:r>
            <a:r>
              <a:rPr lang="en-US" altLang="zh-CN" sz="1400"/>
              <a:t>4mm</a:t>
            </a:r>
            <a:r>
              <a:rPr lang="zh-CN" altLang="en-US" sz="1400"/>
              <a:t>。</a:t>
            </a:r>
            <a:endParaRPr lang="en-US" altLang="zh-CN" sz="1400"/>
          </a:p>
          <a:p>
            <a:r>
              <a:rPr lang="zh-CN" altLang="zh-CN" sz="1400" b="1"/>
              <a:t>材料</a:t>
            </a:r>
            <a:r>
              <a:rPr lang="zh-CN" altLang="zh-CN" sz="1400"/>
              <a:t>：</a:t>
            </a:r>
            <a:r>
              <a:rPr lang="en-US" altLang="zh-CN" sz="1400"/>
              <a:t>SiC/SiC</a:t>
            </a:r>
            <a:r>
              <a:rPr lang="zh-CN" altLang="zh-CN" sz="1400"/>
              <a:t>复合材料 一块</a:t>
            </a:r>
            <a:r>
              <a:rPr lang="en-US" altLang="zh-CN" sz="1400"/>
              <a:t>  </a:t>
            </a:r>
            <a:r>
              <a:rPr lang="zh-CN" altLang="zh-CN" sz="1400"/>
              <a:t>规格： </a:t>
            </a:r>
            <a:r>
              <a:rPr lang="en-US" altLang="zh-CN" sz="1400"/>
              <a:t>50x50x5mm^3 </a:t>
            </a:r>
            <a:endParaRPr lang="zh-CN" altLang="zh-CN" sz="1400"/>
          </a:p>
          <a:p>
            <a:r>
              <a:rPr lang="zh-CN" altLang="zh-CN" sz="1400" b="1"/>
              <a:t>实验参数</a:t>
            </a:r>
            <a:r>
              <a:rPr lang="zh-CN" altLang="zh-CN" sz="1400"/>
              <a:t>：</a:t>
            </a:r>
            <a:r>
              <a:rPr lang="en-US" altLang="zh-CN" sz="1400"/>
              <a:t>n = 8000rpm f = 50mm/min </a:t>
            </a:r>
            <a:r>
              <a:rPr lang="zh-CN" altLang="zh-CN" sz="1400"/>
              <a:t>轴向切深</a:t>
            </a:r>
            <a:r>
              <a:rPr lang="en-US" altLang="zh-CN" sz="1400"/>
              <a:t>ap = 0.1mm</a:t>
            </a:r>
            <a:r>
              <a:rPr lang="zh-CN" altLang="zh-CN" sz="1400"/>
              <a:t>。无超声，仅进行干式</a:t>
            </a:r>
            <a:r>
              <a:rPr lang="zh-CN" altLang="en-US" sz="1400"/>
              <a:t>磨削</a:t>
            </a:r>
            <a:r>
              <a:rPr lang="zh-CN" altLang="zh-CN" sz="1400"/>
              <a:t>，直至刀具失效。</a:t>
            </a:r>
            <a:endParaRPr lang="en-US" altLang="zh-CN" sz="1400" b="1"/>
          </a:p>
          <a:p>
            <a:r>
              <a:rPr lang="zh-CN" altLang="zh-CN" sz="1400" b="1"/>
              <a:t>实验输出</a:t>
            </a:r>
            <a:r>
              <a:rPr lang="zh-CN" altLang="zh-CN" sz="1400"/>
              <a:t>：</a:t>
            </a:r>
            <a:r>
              <a:rPr lang="zh-CN" altLang="en-US" sz="1400"/>
              <a:t>每铣削一定长度（</a:t>
            </a:r>
            <a:r>
              <a:rPr lang="en-US" altLang="zh-CN" sz="1400"/>
              <a:t>0.25m</a:t>
            </a:r>
            <a:r>
              <a:rPr lang="zh-CN" altLang="en-US" sz="1400"/>
              <a:t>），在光学显微镜下观察</a:t>
            </a:r>
            <a:r>
              <a:rPr lang="zh-CN" altLang="zh-CN" sz="1400"/>
              <a:t>刀具</a:t>
            </a:r>
            <a:r>
              <a:rPr lang="zh-CN" altLang="en-US" sz="1400"/>
              <a:t>底面</a:t>
            </a:r>
            <a:r>
              <a:rPr lang="zh-CN" altLang="zh-CN" sz="1400"/>
              <a:t>磨损情况</a:t>
            </a:r>
            <a:r>
              <a:rPr lang="zh-CN" altLang="en-US" sz="1400"/>
              <a:t>。 </a:t>
            </a:r>
            <a:endParaRPr lang="en-US" altLang="zh-CN" sz="1400"/>
          </a:p>
          <a:p>
            <a:r>
              <a:rPr lang="zh-CN" altLang="zh-CN" sz="1400" b="1"/>
              <a:t>走刀路径：</a:t>
            </a:r>
            <a:r>
              <a:rPr lang="zh-CN" altLang="zh-CN" sz="1400"/>
              <a:t> 端</a:t>
            </a:r>
            <a:r>
              <a:rPr lang="zh-CN" altLang="en-US" sz="1400"/>
              <a:t>磨。每走完一刀后沿轴向向下继续，切</a:t>
            </a:r>
            <a:r>
              <a:rPr lang="en-US" altLang="zh-CN" sz="1400"/>
              <a:t>0.5mm</a:t>
            </a:r>
            <a:r>
              <a:rPr lang="zh-CN" altLang="en-US" sz="1400"/>
              <a:t>深后取下刀具。</a:t>
            </a:r>
            <a:endParaRPr lang="zh-CN" altLang="zh-CN" sz="1400"/>
          </a:p>
          <a:p>
            <a:endParaRPr lang="zh-CN" altLang="en-US" sz="180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10D4BD5-A099-05DE-0CD2-DA9B25A693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584" y="3308462"/>
            <a:ext cx="3444539" cy="2292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9113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DAC22-8114-1585-7ED4-45F446718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7D872BE3-2AB9-5C39-E475-7653D0AE12D7}"/>
              </a:ext>
            </a:extLst>
          </p:cNvPr>
          <p:cNvSpPr txBox="1"/>
          <p:nvPr/>
        </p:nvSpPr>
        <p:spPr>
          <a:xfrm>
            <a:off x="747584" y="364524"/>
            <a:ext cx="41376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不同磨削长度下刀具底面磨损情况对比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1A7C980B-1AE5-4FBD-915F-9F27B8919854}"/>
              </a:ext>
            </a:extLst>
          </p:cNvPr>
          <p:cNvSpPr txBox="1"/>
          <p:nvPr/>
        </p:nvSpPr>
        <p:spPr>
          <a:xfrm>
            <a:off x="7396389" y="3725562"/>
            <a:ext cx="469153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随着磨削长度的增加，磨粒逐渐被磨平，表现为观察不到凸起，颗粒的表面是光滑的平面，最终脱落，表现为凹坑或空洞。此外，</a:t>
            </a:r>
            <a:r>
              <a:rPr lang="en-US" altLang="zh-CN"/>
              <a:t>SiC</a:t>
            </a:r>
            <a:r>
              <a:rPr lang="zh-CN" altLang="en-US"/>
              <a:t>切屑的黏附逐渐向内扩张。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测量</a:t>
            </a:r>
            <a:r>
              <a:rPr lang="en-US" altLang="zh-CN"/>
              <a:t>1m</a:t>
            </a:r>
            <a:r>
              <a:rPr lang="zh-CN" altLang="en-US"/>
              <a:t>后的表面粗糙度，已达到</a:t>
            </a:r>
            <a:r>
              <a:rPr lang="en-US" altLang="zh-CN"/>
              <a:t>9</a:t>
            </a:r>
            <a:r>
              <a:rPr lang="zh-CN" altLang="en-US"/>
              <a:t>微米，表明已经失效。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9FB1D1CD-DC1E-C279-3B06-5BB126C1AA06}"/>
              </a:ext>
            </a:extLst>
          </p:cNvPr>
          <p:cNvSpPr txBox="1"/>
          <p:nvPr/>
        </p:nvSpPr>
        <p:spPr>
          <a:xfrm>
            <a:off x="9366695" y="1295162"/>
            <a:ext cx="265643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从左至右为</a:t>
            </a:r>
            <a:r>
              <a:rPr lang="en-US" altLang="zh-CN"/>
              <a:t>0.25m</a:t>
            </a:r>
            <a:r>
              <a:rPr lang="zh-CN" altLang="en-US"/>
              <a:t>，</a:t>
            </a:r>
            <a:r>
              <a:rPr lang="en-US" altLang="zh-CN"/>
              <a:t>0.5m</a:t>
            </a:r>
            <a:r>
              <a:rPr lang="zh-CN" altLang="en-US"/>
              <a:t>，</a:t>
            </a:r>
            <a:r>
              <a:rPr lang="en-US" altLang="zh-CN"/>
              <a:t>0.75m</a:t>
            </a:r>
            <a:r>
              <a:rPr lang="zh-CN" altLang="en-US"/>
              <a:t>和</a:t>
            </a:r>
            <a:r>
              <a:rPr lang="en-US" altLang="zh-CN"/>
              <a:t>1m</a:t>
            </a:r>
            <a:r>
              <a:rPr lang="zh-CN" altLang="en-US"/>
              <a:t>。</a:t>
            </a:r>
            <a:endParaRPr lang="en-US" altLang="zh-CN"/>
          </a:p>
          <a:p>
            <a:r>
              <a:rPr lang="zh-CN" altLang="en-US"/>
              <a:t>图中分为三个部分：大面积发亮的粘接剂，众多暗绿色的金刚石颗粒，以及边缘黑色的</a:t>
            </a:r>
            <a:r>
              <a:rPr lang="en-US" altLang="zh-CN"/>
              <a:t>SiC</a:t>
            </a:r>
            <a:r>
              <a:rPr lang="zh-CN" altLang="en-US"/>
              <a:t>切屑。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32E366A-3C21-A152-EB97-D7D5068013B4}"/>
              </a:ext>
            </a:extLst>
          </p:cNvPr>
          <p:cNvSpPr txBox="1"/>
          <p:nvPr/>
        </p:nvSpPr>
        <p:spPr>
          <a:xfrm>
            <a:off x="747584" y="733856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100</a:t>
            </a:r>
            <a:r>
              <a:rPr lang="zh-CN" altLang="en-US"/>
              <a:t>目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F3E502D-E367-1F49-41BD-F6958AD6917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456"/>
          <a:stretch>
            <a:fillRect/>
          </a:stretch>
        </p:blipFill>
        <p:spPr>
          <a:xfrm>
            <a:off x="858795" y="1134527"/>
            <a:ext cx="2607276" cy="246304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019E7AE-53BA-B7DB-B32A-EC86E00369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27" r="18564"/>
          <a:stretch>
            <a:fillRect/>
          </a:stretch>
        </p:blipFill>
        <p:spPr>
          <a:xfrm rot="10800000">
            <a:off x="3466070" y="1134526"/>
            <a:ext cx="2820294" cy="246304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814901D-5212-15AB-E6F1-E895A3588D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929"/>
          <a:stretch>
            <a:fillRect/>
          </a:stretch>
        </p:blipFill>
        <p:spPr>
          <a:xfrm>
            <a:off x="6286364" y="1134524"/>
            <a:ext cx="3024439" cy="2463043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65C506B8-AF74-6D75-6A0D-EE47906B8E0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795" y="3725562"/>
            <a:ext cx="3240217" cy="1822622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4443FEC8-E8EE-2E75-E6E1-ED2148C9293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9012" y="3725562"/>
            <a:ext cx="3240217" cy="1822622"/>
          </a:xfrm>
          <a:prstGeom prst="rect">
            <a:avLst/>
          </a:prstGeom>
        </p:spPr>
      </p:pic>
      <p:sp>
        <p:nvSpPr>
          <p:cNvPr id="29" name="矩形 28">
            <a:extLst>
              <a:ext uri="{FF2B5EF4-FFF2-40B4-BE49-F238E27FC236}">
                <a16:creationId xmlns:a16="http://schemas.microsoft.com/office/drawing/2014/main" id="{BC951EA7-F1E2-7353-3844-8BFFE52D730D}"/>
              </a:ext>
            </a:extLst>
          </p:cNvPr>
          <p:cNvSpPr/>
          <p:nvPr/>
        </p:nvSpPr>
        <p:spPr>
          <a:xfrm>
            <a:off x="1343334" y="4547286"/>
            <a:ext cx="652282" cy="43248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CF1B519-9818-E3BA-7159-AC175C1BFA0C}"/>
              </a:ext>
            </a:extLst>
          </p:cNvPr>
          <p:cNvSpPr/>
          <p:nvPr/>
        </p:nvSpPr>
        <p:spPr>
          <a:xfrm>
            <a:off x="4596288" y="5115697"/>
            <a:ext cx="652282" cy="43248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52688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49B3F-7AE6-9071-099A-253D44898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60B184AF-A52F-180F-1198-2E6D9105CF3A}"/>
              </a:ext>
            </a:extLst>
          </p:cNvPr>
          <p:cNvSpPr txBox="1"/>
          <p:nvPr/>
        </p:nvSpPr>
        <p:spPr>
          <a:xfrm>
            <a:off x="747584" y="364524"/>
            <a:ext cx="41376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不同磨削长度下刀具底面磨损情况对比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82034ACA-7358-D9A7-F713-22EB66BDBAFF}"/>
              </a:ext>
            </a:extLst>
          </p:cNvPr>
          <p:cNvSpPr txBox="1"/>
          <p:nvPr/>
        </p:nvSpPr>
        <p:spPr>
          <a:xfrm>
            <a:off x="7396389" y="3725562"/>
            <a:ext cx="469153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对于</a:t>
            </a:r>
            <a:r>
              <a:rPr lang="en-US" altLang="zh-CN"/>
              <a:t>200</a:t>
            </a:r>
            <a:r>
              <a:rPr lang="zh-CN" altLang="en-US"/>
              <a:t>目，磨损很快，</a:t>
            </a:r>
            <a:r>
              <a:rPr lang="en-US" altLang="zh-CN"/>
              <a:t>0.35m</a:t>
            </a:r>
            <a:r>
              <a:rPr lang="zh-CN" altLang="en-US"/>
              <a:t>时能明显观察到边缘磨粒大量脱落，且观察到金刚石颗粒的反光现象，说明表面已被抹平。当</a:t>
            </a:r>
            <a:r>
              <a:rPr lang="en-US" altLang="zh-CN"/>
              <a:t>0.6m</a:t>
            </a:r>
            <a:r>
              <a:rPr lang="zh-CN" altLang="en-US"/>
              <a:t>时，边缘的磨粒已经全部脱落，内部的反光颗粒数量明显增加。</a:t>
            </a:r>
            <a:endParaRPr lang="en-US" altLang="zh-CN"/>
          </a:p>
          <a:p>
            <a:r>
              <a:rPr lang="zh-CN" altLang="en-US"/>
              <a:t>测量</a:t>
            </a:r>
            <a:r>
              <a:rPr lang="en-US" altLang="zh-CN"/>
              <a:t>0.35m</a:t>
            </a:r>
            <a:r>
              <a:rPr lang="zh-CN" altLang="en-US"/>
              <a:t>后的表面粗糙度为</a:t>
            </a:r>
            <a:r>
              <a:rPr lang="en-US" altLang="zh-CN"/>
              <a:t>1.343</a:t>
            </a:r>
            <a:r>
              <a:rPr lang="zh-CN" altLang="en-US"/>
              <a:t>微米，表明此为有效精加工，而</a:t>
            </a:r>
            <a:r>
              <a:rPr lang="en-US" altLang="zh-CN"/>
              <a:t>0.6m</a:t>
            </a:r>
            <a:r>
              <a:rPr lang="zh-CN" altLang="en-US"/>
              <a:t>后的粗糙度变为</a:t>
            </a:r>
            <a:r>
              <a:rPr lang="en-US" altLang="zh-CN"/>
              <a:t>5.853</a:t>
            </a:r>
            <a:r>
              <a:rPr lang="zh-CN" altLang="en-US"/>
              <a:t>微米，表明刀具已失效。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5D422648-9444-36F1-3830-264D894E3B72}"/>
              </a:ext>
            </a:extLst>
          </p:cNvPr>
          <p:cNvSpPr txBox="1"/>
          <p:nvPr/>
        </p:nvSpPr>
        <p:spPr>
          <a:xfrm>
            <a:off x="8251573" y="1198232"/>
            <a:ext cx="265643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从左至右为</a:t>
            </a:r>
            <a:r>
              <a:rPr lang="en-US" altLang="zh-CN"/>
              <a:t>0.1m</a:t>
            </a:r>
            <a:r>
              <a:rPr lang="zh-CN" altLang="en-US"/>
              <a:t>，</a:t>
            </a:r>
            <a:r>
              <a:rPr lang="en-US" altLang="zh-CN"/>
              <a:t>0.35m</a:t>
            </a:r>
            <a:r>
              <a:rPr lang="zh-CN" altLang="en-US"/>
              <a:t>，</a:t>
            </a:r>
            <a:r>
              <a:rPr lang="en-US" altLang="zh-CN"/>
              <a:t>0.6m</a:t>
            </a:r>
            <a:r>
              <a:rPr lang="zh-CN" altLang="en-US"/>
              <a:t>。</a:t>
            </a:r>
            <a:endParaRPr lang="en-US" altLang="zh-CN"/>
          </a:p>
          <a:p>
            <a:r>
              <a:rPr lang="zh-CN" altLang="en-US"/>
              <a:t>图中分为三个部分：大面积发亮的粘接剂，众多暗绿色的金刚石颗粒，以及边缘黑色的</a:t>
            </a:r>
            <a:r>
              <a:rPr lang="en-US" altLang="zh-CN"/>
              <a:t>SiC</a:t>
            </a:r>
            <a:r>
              <a:rPr lang="zh-CN" altLang="en-US"/>
              <a:t>切屑。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04C1989-AAE2-6122-7446-B7B2C0679373}"/>
              </a:ext>
            </a:extLst>
          </p:cNvPr>
          <p:cNvSpPr txBox="1"/>
          <p:nvPr/>
        </p:nvSpPr>
        <p:spPr>
          <a:xfrm>
            <a:off x="747584" y="733856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200</a:t>
            </a:r>
            <a:r>
              <a:rPr lang="zh-CN" altLang="en-US"/>
              <a:t>目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671EB31-98E8-3499-51D7-D9F0442A65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069" t="11924" r="28232" b="33694"/>
          <a:stretch>
            <a:fillRect/>
          </a:stretch>
        </p:blipFill>
        <p:spPr>
          <a:xfrm>
            <a:off x="839797" y="1198233"/>
            <a:ext cx="2311638" cy="223076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3E924C2-31B5-96C4-A5E5-39650D19F6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78" t="4445" r="32134" b="17472"/>
          <a:stretch>
            <a:fillRect/>
          </a:stretch>
        </p:blipFill>
        <p:spPr>
          <a:xfrm>
            <a:off x="3151435" y="1198233"/>
            <a:ext cx="2311638" cy="223206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BDC0CD1B-7DD7-4B2C-6DDC-B927237AF9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97" y="3716366"/>
            <a:ext cx="3317109" cy="1865874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2FB28C4B-F507-15B7-9393-761C3BDADD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22" t="12141" r="51463" b="19024"/>
          <a:stretch>
            <a:fillRect/>
          </a:stretch>
        </p:blipFill>
        <p:spPr>
          <a:xfrm>
            <a:off x="5463073" y="1198232"/>
            <a:ext cx="2357235" cy="2230767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FC40EF53-5B86-5A8D-82CC-8CD285EBC72A}"/>
              </a:ext>
            </a:extLst>
          </p:cNvPr>
          <p:cNvSpPr txBox="1"/>
          <p:nvPr/>
        </p:nvSpPr>
        <p:spPr>
          <a:xfrm>
            <a:off x="1939096" y="5582240"/>
            <a:ext cx="7892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/>
              <a:t>0.35m</a:t>
            </a:r>
            <a:endParaRPr lang="zh-CN" altLang="en-US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C64CC013-B029-FA86-02E8-701288F2D95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719"/>
          <a:stretch>
            <a:fillRect/>
          </a:stretch>
        </p:blipFill>
        <p:spPr>
          <a:xfrm>
            <a:off x="4156905" y="3725561"/>
            <a:ext cx="3083953" cy="2134243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C1906C3E-7A07-A88B-AFCD-1EA78F79871F}"/>
              </a:ext>
            </a:extLst>
          </p:cNvPr>
          <p:cNvSpPr txBox="1"/>
          <p:nvPr/>
        </p:nvSpPr>
        <p:spPr>
          <a:xfrm>
            <a:off x="5285678" y="5868999"/>
            <a:ext cx="7211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/>
              <a:t>0.6m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51916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A879E363-03BE-4A57-98BA-3F1D8B65C2EA}"/>
              </a:ext>
            </a:extLst>
          </p:cNvPr>
          <p:cNvSpPr txBox="1"/>
          <p:nvPr/>
        </p:nvSpPr>
        <p:spPr>
          <a:xfrm>
            <a:off x="747584" y="364524"/>
            <a:ext cx="41376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不同磨削长度下刀具底面磨损情况对比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26875EA-DCCF-5C3C-D89B-2FCA2492D626}"/>
              </a:ext>
            </a:extLst>
          </p:cNvPr>
          <p:cNvSpPr txBox="1"/>
          <p:nvPr/>
        </p:nvSpPr>
        <p:spPr>
          <a:xfrm>
            <a:off x="747584" y="733856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400</a:t>
            </a:r>
            <a:r>
              <a:rPr lang="zh-CN" altLang="en-US"/>
              <a:t>目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C4CB792A-7D0F-620E-12DF-853E9C8CF8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282" t="3902" r="18719" b="13930"/>
          <a:stretch>
            <a:fillRect/>
          </a:stretch>
        </p:blipFill>
        <p:spPr>
          <a:xfrm>
            <a:off x="882200" y="1232757"/>
            <a:ext cx="2515204" cy="258336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492D1F96-6AE3-AFC1-8376-714FA9E526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403" y="1232756"/>
            <a:ext cx="4592649" cy="2583365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31129FFE-FDC5-DC85-B380-5049A6CABA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88" r="10255"/>
          <a:stretch>
            <a:fillRect/>
          </a:stretch>
        </p:blipFill>
        <p:spPr>
          <a:xfrm>
            <a:off x="7990052" y="1232756"/>
            <a:ext cx="3323066" cy="2583365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CDB8B55D-0567-0B26-9C23-5530EF0B53DF}"/>
              </a:ext>
            </a:extLst>
          </p:cNvPr>
          <p:cNvSpPr txBox="1"/>
          <p:nvPr/>
        </p:nvSpPr>
        <p:spPr>
          <a:xfrm>
            <a:off x="1002193" y="4000626"/>
            <a:ext cx="35549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对于</a:t>
            </a:r>
            <a:r>
              <a:rPr lang="en-US" altLang="zh-CN"/>
              <a:t>400</a:t>
            </a:r>
            <a:r>
              <a:rPr lang="zh-CN" altLang="en-US"/>
              <a:t>目，磨损极快，仅仅磨了</a:t>
            </a:r>
            <a:r>
              <a:rPr lang="en-US" altLang="zh-CN"/>
              <a:t>0.15m</a:t>
            </a:r>
            <a:r>
              <a:rPr lang="zh-CN" altLang="en-US"/>
              <a:t>表面的磨粒全部消失，且由于轴向切削力的挤压导致变形。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右侧为材料表面。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FB6DFADB-B816-D04A-8E4D-7CAD43CAC7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8071" y="3816121"/>
            <a:ext cx="4453054" cy="2504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2462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31991-0198-7DED-BDDC-576009220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197542DE-2D53-FA9C-F0F0-1C4FB33FDDCD}"/>
              </a:ext>
            </a:extLst>
          </p:cNvPr>
          <p:cNvSpPr txBox="1"/>
          <p:nvPr/>
        </p:nvSpPr>
        <p:spPr>
          <a:xfrm>
            <a:off x="552092" y="320382"/>
            <a:ext cx="1114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实验总结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09FF601-F03D-4D48-074A-0B4181569968}"/>
              </a:ext>
            </a:extLst>
          </p:cNvPr>
          <p:cNvSpPr txBox="1"/>
          <p:nvPr/>
        </p:nvSpPr>
        <p:spPr>
          <a:xfrm>
            <a:off x="692600" y="856940"/>
            <a:ext cx="1065588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实验流程：在固定参数下进行端磨，每隔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0.25m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长度就在显微镜下拍摄。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buAutoNum type="arabicPeriod"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刀具磨损情况总结：磨损形式主要为磨粒磨损，后期发生磨粒脱落。对于颗粒越大的磨头，其耐磨性越好。原因如下：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单颗磨粒所受的载荷虽然比细颗粒大，但同时接触面积也在增加，颗粒所受压强是大颗粒更小 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颗粒之间的缝隙大，排屑与散热性能更优 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3.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大磨粒在电镀层中把持力更强，被埋的深，不易脱落。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buAutoNum type="arabicPeriod"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刀具本身特性： 对于电镀磨头，颗粒附着厚度因目数而有差别。 使用卡尺测量磨头直径， 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100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目直径为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4.01mm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200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目和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400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目仅有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3.82mm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，这说明磨粒层是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100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目厚得多。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buAutoNum type="arabicPeriod"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后续计划：使用烧结金刚石磨头加工，可规避上述刀具制造中厚度不一的问题。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buAutoNum type="arabicPeriod"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磨损观察及定量表征： 仅针对烧结金刚石磨头，磨损形式主要有破碎、磨平、脱落。考虑在显微镜下统计三种磨损形式的比例。以及由于烧结磨头的“自锐性”，即结合剂消耗后新的磨粒参与磨削，还需观察后续磨粒的补充情况。  同时，可采取测量磨头直径或长度、称重法辅以表征。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buAutoNum type="arabicPeriod"/>
            </a:pP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buAutoNum type="arabicPeriod"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实际问题：不知道显微镜倍数，每次取下再装上难以控制刀出露长度。喷液氮的话目前计划是盯着刀与材料接触地方喷。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698265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7DE9B-51C9-338B-FBEF-C98BEF9A8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75167C6D-F063-BF7D-16AC-9574CDED8D7F}"/>
              </a:ext>
            </a:extLst>
          </p:cNvPr>
          <p:cNvSpPr txBox="1"/>
          <p:nvPr/>
        </p:nvSpPr>
        <p:spPr>
          <a:xfrm>
            <a:off x="552092" y="320382"/>
            <a:ext cx="1114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问题汇总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AF22182-5965-69BD-7F52-9CCC083B7B1C}"/>
              </a:ext>
            </a:extLst>
          </p:cNvPr>
          <p:cNvSpPr txBox="1"/>
          <p:nvPr/>
        </p:nvSpPr>
        <p:spPr>
          <a:xfrm>
            <a:off x="692600" y="856940"/>
            <a:ext cx="1065588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一些疑虑，总会思考为什么要做这些。拿磨损实验说，就是单纯的重复重复再重复，对我自己和实验员甚至机床都是一种折磨。我认为磨损实验不该由高校的人去做，对于材料反复切割高频重复是对刀具和材料的浪费，应该由实际参与生产加工的企业去研究，在加工零件的过程中顺便监测一下刀具寿命。但是这又涉及到另外的问题，就是实际生产中不会用到液氮。 此外，我认为刀具磨损研究相比对于表面加工和工艺研究，更加枯燥且耗时更长。 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buAutoNum type="arabicPeriod"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从功利的角度，收集更多数据，需要优化实验计划。 我原先从最严谨的对比角度，仅仅改变液氮的参数去研究磨损，所得数据有 切削力曲线、磨损曲线、粗糙度曲线。我甚至不知道论文中需要多少图，需要拍多少照片。若要丰富数据，是否可以在一把刀的加工过程中，改变其他参数如转速进给这类，但又觉得这些早已有研究，没什么价值。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buAutoNum type="arabicPeriod"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另一方面，做了部分理论研究。 学习了纤维切削的理论模型。 私以为理论工作的突破亦有其价值。目前的模型仅仅是针对直纤维的挠度计算，预测切削力、损伤和脱粘等行为， 未见对于弯曲纤维的计算。 我不明白，是因为弯曲纤维难算，还是没有实际应用价值。但不可能是前者，因为理论计算从来不是难事，早在几十年前即有模型。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buAutoNum type="arabicPeriod"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论文里的东西很狡猾。语言的魅力，细节全无，仅有一些空话。全要在具体实验中看细节。比如磨损类型，磨损阶段，无统一标准，以及判定条件也很模糊。至于低温加工，喷淋的方式也是因人而异。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buAutoNum type="arabicPeriod"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最后是关于自身状态。我做不到自律，做不到准时准点上班。照顾别人的情绪好累。整理工作和汇报好麻烦。 现实中不遇到问题，不会有动力去准备。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471895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81D022E-345B-87D5-981E-44124F54DA09}"/>
              </a:ext>
            </a:extLst>
          </p:cNvPr>
          <p:cNvSpPr txBox="1"/>
          <p:nvPr/>
        </p:nvSpPr>
        <p:spPr>
          <a:xfrm>
            <a:off x="451021" y="221737"/>
            <a:ext cx="27655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液氮铣削加工实验计划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60094F61-FDC2-B65E-D4D5-83032A8A36A7}"/>
                  </a:ext>
                </a:extLst>
              </p:cNvPr>
              <p:cNvSpPr txBox="1"/>
              <p:nvPr/>
            </p:nvSpPr>
            <p:spPr>
              <a:xfrm>
                <a:off x="451021" y="706429"/>
                <a:ext cx="10942419" cy="32735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400" b="1">
                    <a:latin typeface="宋体" panose="02010600030101010101" pitchFamily="2" charset="-122"/>
                    <a:ea typeface="宋体" panose="02010600030101010101" pitchFamily="2" charset="-122"/>
                  </a:rPr>
                  <a:t>实验准备：</a:t>
                </a:r>
                <a:r>
                  <a:rPr lang="zh-CN" altLang="en-US" sz="1400">
                    <a:latin typeface="宋体" panose="02010600030101010101" pitchFamily="2" charset="-122"/>
                    <a:ea typeface="宋体" panose="02010600030101010101" pitchFamily="2" charset="-122"/>
                  </a:rPr>
                  <a:t>数控</a:t>
                </a:r>
                <a:r>
                  <a:rPr lang="en-US" altLang="zh-CN" sz="1400">
                    <a:latin typeface="宋体" panose="02010600030101010101" pitchFamily="2" charset="-122"/>
                    <a:ea typeface="宋体" panose="02010600030101010101" pitchFamily="2" charset="-122"/>
                  </a:rPr>
                  <a:t>3</a:t>
                </a:r>
                <a:r>
                  <a:rPr lang="zh-CN" altLang="en-US" sz="1400">
                    <a:latin typeface="宋体" panose="02010600030101010101" pitchFamily="2" charset="-122"/>
                    <a:ea typeface="宋体" panose="02010600030101010101" pitchFamily="2" charset="-122"/>
                  </a:rPr>
                  <a:t>轴机床 </a:t>
                </a:r>
                <a:r>
                  <a:rPr lang="en-US" altLang="zh-CN" sz="1400">
                    <a:latin typeface="宋体" panose="02010600030101010101" pitchFamily="2" charset="-122"/>
                    <a:ea typeface="宋体" panose="02010600030101010101" pitchFamily="2" charset="-122"/>
                  </a:rPr>
                  <a:t>kistler</a:t>
                </a:r>
                <a:r>
                  <a:rPr lang="zh-CN" altLang="en-US" sz="1400">
                    <a:latin typeface="宋体" panose="02010600030101010101" pitchFamily="2" charset="-122"/>
                    <a:ea typeface="宋体" panose="02010600030101010101" pitchFamily="2" charset="-122"/>
                  </a:rPr>
                  <a:t>测力仪 自增压液氮罐</a:t>
                </a:r>
                <a:r>
                  <a:rPr lang="en-US" altLang="zh-CN" sz="1400">
                    <a:latin typeface="宋体" panose="02010600030101010101" pitchFamily="2" charset="-122"/>
                    <a:ea typeface="宋体" panose="02010600030101010101" pitchFamily="2" charset="-122"/>
                  </a:rPr>
                  <a:t>YDZ-100 </a:t>
                </a:r>
                <a:r>
                  <a:rPr lang="zh-CN" altLang="en-US" sz="1400">
                    <a:latin typeface="宋体" panose="02010600030101010101" pitchFamily="2" charset="-122"/>
                    <a:ea typeface="宋体" panose="02010600030101010101" pitchFamily="2" charset="-122"/>
                  </a:rPr>
                  <a:t>光学显微镜一台 便携式粗糙度仪一台</a:t>
                </a:r>
              </a:p>
              <a:p>
                <a:pPr>
                  <a:lnSpc>
                    <a:spcPct val="150000"/>
                  </a:lnSpc>
                </a:pPr>
                <a:r>
                  <a:rPr lang="zh-CN" altLang="en-US" sz="1400" b="1">
                    <a:latin typeface="宋体" panose="02010600030101010101" pitchFamily="2" charset="-122"/>
                    <a:ea typeface="宋体" panose="02010600030101010101" pitchFamily="2" charset="-122"/>
                  </a:rPr>
                  <a:t>刀具：</a:t>
                </a:r>
                <a:r>
                  <a:rPr lang="en-US" altLang="zh-CN" sz="1400">
                    <a:latin typeface="宋体" panose="02010600030101010101" pitchFamily="2" charset="-122"/>
                    <a:ea typeface="宋体" panose="02010600030101010101" pitchFamily="2" charset="-122"/>
                  </a:rPr>
                  <a:t>PCD</a:t>
                </a:r>
                <a:r>
                  <a:rPr lang="zh-CN" altLang="en-US" sz="1400">
                    <a:latin typeface="宋体" panose="02010600030101010101" pitchFamily="2" charset="-122"/>
                    <a:ea typeface="宋体" panose="02010600030101010101" pitchFamily="2" charset="-122"/>
                  </a:rPr>
                  <a:t>微刃刀</a:t>
                </a:r>
                <a:r>
                  <a:rPr lang="en-US" altLang="zh-CN" sz="1400">
                    <a:latin typeface="宋体" panose="02010600030101010101" pitchFamily="2" charset="-122"/>
                    <a:ea typeface="宋体" panose="02010600030101010101" pitchFamily="2" charset="-122"/>
                  </a:rPr>
                  <a:t>D6-3-d6-50-28F-005  5</a:t>
                </a:r>
                <a:r>
                  <a:rPr lang="zh-CN" altLang="en-US" sz="1400">
                    <a:latin typeface="宋体" panose="02010600030101010101" pitchFamily="2" charset="-122"/>
                    <a:ea typeface="宋体" panose="02010600030101010101" pitchFamily="2" charset="-122"/>
                  </a:rPr>
                  <a:t>把</a:t>
                </a:r>
              </a:p>
              <a:p>
                <a:pPr>
                  <a:lnSpc>
                    <a:spcPct val="150000"/>
                  </a:lnSpc>
                </a:pPr>
                <a:r>
                  <a:rPr lang="zh-CN" altLang="en-US" sz="1400" b="1">
                    <a:latin typeface="宋体" panose="02010600030101010101" pitchFamily="2" charset="-122"/>
                    <a:ea typeface="宋体" panose="02010600030101010101" pitchFamily="2" charset="-122"/>
                  </a:rPr>
                  <a:t>材料：</a:t>
                </a:r>
                <a:r>
                  <a:rPr lang="en-US" altLang="zh-CN" sz="1400">
                    <a:latin typeface="宋体" panose="02010600030101010101" pitchFamily="2" charset="-122"/>
                    <a:ea typeface="宋体" panose="02010600030101010101" pitchFamily="2" charset="-122"/>
                  </a:rPr>
                  <a:t>SiC/SiC</a:t>
                </a:r>
                <a:r>
                  <a:rPr lang="zh-CN" altLang="en-US" sz="1400">
                    <a:latin typeface="宋体" panose="02010600030101010101" pitchFamily="2" charset="-122"/>
                    <a:ea typeface="宋体" panose="02010600030101010101" pitchFamily="2" charset="-122"/>
                  </a:rPr>
                  <a:t>复合材料 一块  规格： </a:t>
                </a:r>
                <a:r>
                  <a:rPr lang="en-US" altLang="zh-CN" sz="1400">
                    <a:latin typeface="宋体" panose="02010600030101010101" pitchFamily="2" charset="-122"/>
                    <a:ea typeface="宋体" panose="02010600030101010101" pitchFamily="2" charset="-122"/>
                  </a:rPr>
                  <a:t>50x50x5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b="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pPr>
                      <m:e>
                        <m:r>
                          <a:rPr lang="en-US" altLang="zh-CN" sz="1400" b="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𝑚𝑚</m:t>
                        </m:r>
                      </m:e>
                      <m:sup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3</m:t>
                        </m:r>
                      </m:sup>
                    </m:sSup>
                  </m:oMath>
                </a14:m>
                <a:endParaRPr lang="en-US" altLang="zh-CN" sz="140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400" b="1">
                    <a:latin typeface="宋体" panose="02010600030101010101" pitchFamily="2" charset="-122"/>
                    <a:ea typeface="宋体" panose="02010600030101010101" pitchFamily="2" charset="-122"/>
                  </a:rPr>
                  <a:t>实验设计：</a:t>
                </a:r>
                <a:endParaRPr lang="en-US" altLang="zh-CN" sz="1400" b="1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40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加工过程中，每铣削</a:t>
                </a:r>
                <a:r>
                  <a:rPr lang="en-US" altLang="zh-CN" sz="140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0.4m</a:t>
                </a:r>
                <a:r>
                  <a:rPr lang="zh-CN" altLang="en-US" sz="140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取下刀具，于显微镜下相同光照和放大拍摄全部</a:t>
                </a:r>
                <a:r>
                  <a:rPr lang="en-US" altLang="zh-CN" sz="140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28</a:t>
                </a:r>
                <a:r>
                  <a:rPr lang="zh-CN" altLang="en-US" sz="140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个刃，</a:t>
                </a:r>
                <a:r>
                  <a:rPr lang="zh-CN" altLang="en-US" sz="1400">
                    <a:latin typeface="宋体" panose="02010600030101010101" pitchFamily="2" charset="-122"/>
                    <a:ea typeface="宋体" panose="02010600030101010101" pitchFamily="2" charset="-122"/>
                  </a:rPr>
                  <a:t>预计需要</a:t>
                </a:r>
                <a:r>
                  <a:rPr lang="en-US" altLang="zh-CN" sz="1400">
                    <a:latin typeface="宋体" panose="02010600030101010101" pitchFamily="2" charset="-122"/>
                    <a:ea typeface="宋体" panose="02010600030101010101" pitchFamily="2" charset="-122"/>
                  </a:rPr>
                  <a:t>6-7</a:t>
                </a:r>
                <a:r>
                  <a:rPr lang="zh-CN" altLang="en-US" sz="1400">
                    <a:latin typeface="宋体" panose="02010600030101010101" pitchFamily="2" charset="-122"/>
                    <a:ea typeface="宋体" panose="02010600030101010101" pitchFamily="2" charset="-122"/>
                  </a:rPr>
                  <a:t>张照片用于后续统计。</a:t>
                </a:r>
                <a:endParaRPr lang="en-US" altLang="zh-CN" sz="140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40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同时，测量该间隔后工件表面的粗糙度，测三个点以避免随机误差</a:t>
                </a:r>
                <a:r>
                  <a:rPr lang="zh-CN" altLang="en-US" sz="1400">
                    <a:latin typeface="宋体" panose="02010600030101010101" pitchFamily="2" charset="-122"/>
                    <a:ea typeface="宋体" panose="02010600030101010101" pitchFamily="2" charset="-122"/>
                  </a:rPr>
                  <a:t>。</a:t>
                </a:r>
                <a:endParaRPr lang="en-US" altLang="zh-CN" sz="140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400">
                    <a:latin typeface="宋体" panose="02010600030101010101" pitchFamily="2" charset="-122"/>
                    <a:ea typeface="宋体" panose="02010600030101010101" pitchFamily="2" charset="-122"/>
                  </a:rPr>
                  <a:t>走刀路径为端铣，转速</a:t>
                </a:r>
                <a:r>
                  <a:rPr lang="en-US" altLang="zh-CN" sz="1400">
                    <a:latin typeface="宋体" panose="02010600030101010101" pitchFamily="2" charset="-122"/>
                    <a:ea typeface="宋体" panose="02010600030101010101" pitchFamily="2" charset="-122"/>
                  </a:rPr>
                  <a:t>8000rpm</a:t>
                </a:r>
                <a:r>
                  <a:rPr lang="zh-CN" altLang="en-US" sz="1400">
                    <a:latin typeface="宋体" panose="02010600030101010101" pitchFamily="2" charset="-122"/>
                    <a:ea typeface="宋体" panose="02010600030101010101" pitchFamily="2" charset="-122"/>
                  </a:rPr>
                  <a:t>，进给</a:t>
                </a:r>
                <a:r>
                  <a:rPr lang="en-US" altLang="zh-CN" sz="1400">
                    <a:latin typeface="宋体" panose="02010600030101010101" pitchFamily="2" charset="-122"/>
                    <a:ea typeface="宋体" panose="02010600030101010101" pitchFamily="2" charset="-122"/>
                  </a:rPr>
                  <a:t>200mm/min</a:t>
                </a:r>
                <a:r>
                  <a:rPr lang="zh-CN" altLang="en-US" sz="1400">
                    <a:latin typeface="宋体" panose="02010600030101010101" pitchFamily="2" charset="-122"/>
                    <a:ea typeface="宋体" panose="02010600030101010101" pitchFamily="2" charset="-122"/>
                  </a:rPr>
                  <a:t>，切深</a:t>
                </a:r>
                <a:r>
                  <a:rPr lang="en-US" altLang="zh-CN" sz="1400">
                    <a:latin typeface="宋体" panose="02010600030101010101" pitchFamily="2" charset="-122"/>
                    <a:ea typeface="宋体" panose="02010600030101010101" pitchFamily="2" charset="-122"/>
                  </a:rPr>
                  <a:t>0.1mm</a:t>
                </a:r>
                <a:r>
                  <a:rPr lang="zh-CN" altLang="en-US" sz="1400">
                    <a:latin typeface="宋体" panose="02010600030101010101" pitchFamily="2" charset="-122"/>
                    <a:ea typeface="宋体" panose="02010600030101010101" pitchFamily="2" charset="-122"/>
                  </a:rPr>
                  <a:t>。刀具直径</a:t>
                </a:r>
                <a:r>
                  <a:rPr lang="en-US" altLang="zh-CN" sz="1400">
                    <a:latin typeface="宋体" panose="02010600030101010101" pitchFamily="2" charset="-122"/>
                    <a:ea typeface="宋体" panose="02010600030101010101" pitchFamily="2" charset="-122"/>
                  </a:rPr>
                  <a:t>6mm</a:t>
                </a:r>
                <a:r>
                  <a:rPr lang="zh-CN" altLang="en-US" sz="1400">
                    <a:latin typeface="宋体" panose="02010600030101010101" pitchFamily="2" charset="-122"/>
                    <a:ea typeface="宋体" panose="02010600030101010101" pitchFamily="2" charset="-122"/>
                  </a:rPr>
                  <a:t>（实际</a:t>
                </a:r>
                <a:r>
                  <a:rPr lang="en-US" altLang="zh-CN" sz="1400">
                    <a:latin typeface="宋体" panose="02010600030101010101" pitchFamily="2" charset="-122"/>
                    <a:ea typeface="宋体" panose="02010600030101010101" pitchFamily="2" charset="-122"/>
                  </a:rPr>
                  <a:t>5.6mm</a:t>
                </a:r>
                <a:r>
                  <a:rPr lang="zh-CN" altLang="en-US" sz="1400">
                    <a:latin typeface="宋体" panose="02010600030101010101" pitchFamily="2" charset="-122"/>
                    <a:ea typeface="宋体" panose="02010600030101010101" pitchFamily="2" charset="-122"/>
                  </a:rPr>
                  <a:t>），一次表面走</a:t>
                </a:r>
                <a:r>
                  <a:rPr lang="en-US" altLang="zh-CN" sz="1400">
                    <a:latin typeface="宋体" panose="02010600030101010101" pitchFamily="2" charset="-122"/>
                    <a:ea typeface="宋体" panose="02010600030101010101" pitchFamily="2" charset="-122"/>
                  </a:rPr>
                  <a:t>8</a:t>
                </a:r>
                <a:r>
                  <a:rPr lang="zh-CN" altLang="en-US" sz="1400">
                    <a:latin typeface="宋体" panose="02010600030101010101" pitchFamily="2" charset="-122"/>
                    <a:ea typeface="宋体" panose="02010600030101010101" pitchFamily="2" charset="-122"/>
                  </a:rPr>
                  <a:t>刀</a:t>
                </a:r>
                <a:endParaRPr lang="en-US" altLang="zh-CN" sz="140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400" b="1">
                    <a:latin typeface="宋体" panose="02010600030101010101" pitchFamily="2" charset="-122"/>
                    <a:ea typeface="宋体" panose="02010600030101010101" pitchFamily="2" charset="-122"/>
                  </a:rPr>
                  <a:t>切削力测量：</a:t>
                </a:r>
                <a:r>
                  <a:rPr lang="zh-CN" altLang="en-US" sz="140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测量全部切削力数据</a:t>
                </a:r>
                <a:r>
                  <a:rPr lang="zh-CN" altLang="en-US" sz="1400" b="1">
                    <a:latin typeface="宋体" panose="02010600030101010101" pitchFamily="2" charset="-122"/>
                    <a:ea typeface="宋体" panose="02010600030101010101" pitchFamily="2" charset="-122"/>
                  </a:rPr>
                  <a:t>。</a:t>
                </a:r>
                <a:endParaRPr lang="en-US" altLang="zh-CN" sz="1400" b="1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400" b="1">
                    <a:latin typeface="宋体" panose="02010600030101010101" pitchFamily="2" charset="-122"/>
                    <a:ea typeface="宋体" panose="02010600030101010101" pitchFamily="2" charset="-122"/>
                  </a:rPr>
                  <a:t>液氮使用：</a:t>
                </a:r>
                <a:r>
                  <a:rPr lang="zh-CN" altLang="en-US" sz="1400">
                    <a:latin typeface="宋体" panose="02010600030101010101" pitchFamily="2" charset="-122"/>
                    <a:ea typeface="宋体" panose="02010600030101010101" pitchFamily="2" charset="-122"/>
                  </a:rPr>
                  <a:t>使用</a:t>
                </a:r>
                <a:r>
                  <a:rPr lang="zh-CN" altLang="en-US" sz="140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罐上方压力表征流量，</a:t>
                </a:r>
                <a:r>
                  <a:rPr lang="zh-CN" altLang="en-US" sz="1400">
                    <a:latin typeface="宋体" panose="02010600030101010101" pitchFamily="2" charset="-122"/>
                    <a:ea typeface="宋体" panose="02010600030101010101" pitchFamily="2" charset="-122"/>
                  </a:rPr>
                  <a:t>控制压力在</a:t>
                </a:r>
                <a:r>
                  <a:rPr lang="en-US" altLang="zh-CN" sz="140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0.15MPa</a:t>
                </a:r>
                <a:r>
                  <a:rPr lang="zh-CN" altLang="en-US" sz="140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。</a:t>
                </a:r>
                <a:r>
                  <a:rPr lang="zh-CN" altLang="en-US" sz="1400">
                    <a:latin typeface="宋体" panose="02010600030101010101" pitchFamily="2" charset="-122"/>
                    <a:ea typeface="宋体" panose="02010600030101010101" pitchFamily="2" charset="-122"/>
                  </a:rPr>
                  <a:t>对准切削区域，即刀具和材料接触部分。</a:t>
                </a:r>
                <a:r>
                  <a:rPr lang="zh-CN" altLang="en-US" sz="140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于夹具和测力仪之间放置铝合金垫块。测力仪使用塑料膜遮挡以避免冷凝水进入。</a:t>
                </a:r>
                <a:endParaRPr lang="en-US" altLang="zh-CN" sz="140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60094F61-FDC2-B65E-D4D5-83032A8A36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021" y="706429"/>
                <a:ext cx="10942419" cy="3273525"/>
              </a:xfrm>
              <a:prstGeom prst="rect">
                <a:avLst/>
              </a:prstGeom>
              <a:blipFill>
                <a:blip r:embed="rId2"/>
                <a:stretch>
                  <a:fillRect l="-167" r="-1727" b="-9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图片 8">
            <a:extLst>
              <a:ext uri="{FF2B5EF4-FFF2-40B4-BE49-F238E27FC236}">
                <a16:creationId xmlns:a16="http://schemas.microsoft.com/office/drawing/2014/main" id="{DB9A57B2-E49A-45B8-37E3-FFF91D54A7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3302" y="537265"/>
            <a:ext cx="1874109" cy="1606975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D87BE1CB-2C9E-A1C2-D46B-BBDE1EBC2BE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1287" y="4008162"/>
            <a:ext cx="2697177" cy="2020098"/>
          </a:xfrm>
          <a:prstGeom prst="rect">
            <a:avLst/>
          </a:prstGeom>
          <a:noFill/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ED4E2A1-4526-D801-3E64-F4170CDCAA2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144"/>
          <a:stretch>
            <a:fillRect/>
          </a:stretch>
        </p:blipFill>
        <p:spPr>
          <a:xfrm>
            <a:off x="1056098" y="4064536"/>
            <a:ext cx="2908040" cy="2372497"/>
          </a:xfrm>
          <a:prstGeom prst="rect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9B193FE6-DDDA-5766-606B-DBAFAD26A060}"/>
              </a:ext>
            </a:extLst>
          </p:cNvPr>
          <p:cNvCxnSpPr>
            <a:cxnSpLocks/>
          </p:cNvCxnSpPr>
          <p:nvPr/>
        </p:nvCxnSpPr>
        <p:spPr>
          <a:xfrm flipH="1" flipV="1">
            <a:off x="3799703" y="5659394"/>
            <a:ext cx="441754" cy="36886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6C44170A-5F66-0226-25A0-1D8124824B8F}"/>
              </a:ext>
            </a:extLst>
          </p:cNvPr>
          <p:cNvCxnSpPr>
            <a:cxnSpLocks/>
          </p:cNvCxnSpPr>
          <p:nvPr/>
        </p:nvCxnSpPr>
        <p:spPr>
          <a:xfrm flipH="1" flipV="1">
            <a:off x="2864387" y="4850799"/>
            <a:ext cx="1713791" cy="38306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74C953FD-26FD-8A1A-AD30-EC584020AE4B}"/>
              </a:ext>
            </a:extLst>
          </p:cNvPr>
          <p:cNvCxnSpPr>
            <a:cxnSpLocks/>
          </p:cNvCxnSpPr>
          <p:nvPr/>
        </p:nvCxnSpPr>
        <p:spPr>
          <a:xfrm flipH="1" flipV="1">
            <a:off x="2864387" y="5087266"/>
            <a:ext cx="1608759" cy="62688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B49E59B2-2200-6FAD-8DFA-324A2599AD5A}"/>
              </a:ext>
            </a:extLst>
          </p:cNvPr>
          <p:cNvCxnSpPr>
            <a:cxnSpLocks/>
          </p:cNvCxnSpPr>
          <p:nvPr/>
        </p:nvCxnSpPr>
        <p:spPr>
          <a:xfrm flipH="1" flipV="1">
            <a:off x="2761735" y="4661731"/>
            <a:ext cx="1711411" cy="13947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303E01AD-C7A7-8AEC-2607-7A1C3785C024}"/>
              </a:ext>
            </a:extLst>
          </p:cNvPr>
          <p:cNvCxnSpPr>
            <a:cxnSpLocks/>
          </p:cNvCxnSpPr>
          <p:nvPr/>
        </p:nvCxnSpPr>
        <p:spPr>
          <a:xfrm>
            <a:off x="798560" y="4661731"/>
            <a:ext cx="1240305" cy="6973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67CC5AE5-335E-B3A3-0036-3FB4A58FF123}"/>
              </a:ext>
            </a:extLst>
          </p:cNvPr>
          <p:cNvCxnSpPr>
            <a:cxnSpLocks/>
          </p:cNvCxnSpPr>
          <p:nvPr/>
        </p:nvCxnSpPr>
        <p:spPr>
          <a:xfrm flipH="1">
            <a:off x="2712984" y="4212126"/>
            <a:ext cx="1528473" cy="273377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94E0BF57-1F39-5567-6E9F-194969C8880B}"/>
              </a:ext>
            </a:extLst>
          </p:cNvPr>
          <p:cNvSpPr txBox="1"/>
          <p:nvPr/>
        </p:nvSpPr>
        <p:spPr>
          <a:xfrm>
            <a:off x="172590" y="4485503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5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液氮喷嘴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602E67E-77E5-6C41-32A2-EA69A5129FD7}"/>
              </a:ext>
            </a:extLst>
          </p:cNvPr>
          <p:cNvSpPr txBox="1"/>
          <p:nvPr/>
        </p:nvSpPr>
        <p:spPr>
          <a:xfrm>
            <a:off x="4308749" y="4059232"/>
            <a:ext cx="92525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SiC/SiC</a:t>
            </a:r>
            <a:r>
              <a:rPr lang="zh-CN" altLang="en-US" sz="105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材料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C292E62D-4C2F-ACF8-330F-9A4B33192C00}"/>
              </a:ext>
            </a:extLst>
          </p:cNvPr>
          <p:cNvSpPr txBox="1"/>
          <p:nvPr/>
        </p:nvSpPr>
        <p:spPr>
          <a:xfrm>
            <a:off x="4473184" y="4645287"/>
            <a:ext cx="45397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5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夹具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52CE8D9-F9FA-52A1-9E84-A6F660AA3317}"/>
              </a:ext>
            </a:extLst>
          </p:cNvPr>
          <p:cNvSpPr txBox="1"/>
          <p:nvPr/>
        </p:nvSpPr>
        <p:spPr>
          <a:xfrm>
            <a:off x="4619007" y="5119979"/>
            <a:ext cx="45397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5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垫块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2A4811A-9F9F-3810-00A3-D1303BD9340E}"/>
              </a:ext>
            </a:extLst>
          </p:cNvPr>
          <p:cNvSpPr txBox="1"/>
          <p:nvPr/>
        </p:nvSpPr>
        <p:spPr>
          <a:xfrm>
            <a:off x="4308749" y="5697233"/>
            <a:ext cx="58862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5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测力仪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93AFEBBA-C164-BF8C-DB59-4A45DCE0E588}"/>
              </a:ext>
            </a:extLst>
          </p:cNvPr>
          <p:cNvSpPr txBox="1"/>
          <p:nvPr/>
        </p:nvSpPr>
        <p:spPr>
          <a:xfrm>
            <a:off x="4100061" y="6073182"/>
            <a:ext cx="58862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5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保护膜</a:t>
            </a: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F7E9C3E6-6E9F-41FA-5019-CDD32148E2D1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82" t="10271" r="24206" b="12069"/>
          <a:stretch>
            <a:fillRect/>
          </a:stretch>
        </p:blipFill>
        <p:spPr>
          <a:xfrm>
            <a:off x="5669775" y="4059232"/>
            <a:ext cx="2141635" cy="1891917"/>
          </a:xfrm>
          <a:prstGeom prst="rect">
            <a:avLst/>
          </a:prstGeom>
        </p:spPr>
      </p:pic>
      <p:sp>
        <p:nvSpPr>
          <p:cNvPr id="36" name="矩形 35">
            <a:extLst>
              <a:ext uri="{FF2B5EF4-FFF2-40B4-BE49-F238E27FC236}">
                <a16:creationId xmlns:a16="http://schemas.microsoft.com/office/drawing/2014/main" id="{0B0781FC-4239-A6FA-1359-EDCF351650AB}"/>
              </a:ext>
            </a:extLst>
          </p:cNvPr>
          <p:cNvSpPr/>
          <p:nvPr/>
        </p:nvSpPr>
        <p:spPr>
          <a:xfrm>
            <a:off x="10089292" y="5813855"/>
            <a:ext cx="426308" cy="1202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70279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D036AD51-E5F8-F251-7931-38C3EA966241}"/>
              </a:ext>
            </a:extLst>
          </p:cNvPr>
          <p:cNvSpPr txBox="1"/>
          <p:nvPr/>
        </p:nvSpPr>
        <p:spPr>
          <a:xfrm>
            <a:off x="451021" y="221737"/>
            <a:ext cx="27655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液氮铣削加工实验结果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04DC86D-A262-4356-F02E-5E64F62D4A94}"/>
              </a:ext>
            </a:extLst>
          </p:cNvPr>
          <p:cNvSpPr txBox="1"/>
          <p:nvPr/>
        </p:nvSpPr>
        <p:spPr>
          <a:xfrm>
            <a:off x="451021" y="706429"/>
            <a:ext cx="10942419" cy="365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实际走刀长度：</a:t>
            </a:r>
            <a:r>
              <a:rPr lang="en-US" altLang="zh-CN" sz="1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2m</a:t>
            </a:r>
            <a:endParaRPr lang="en-US" altLang="zh-CN" sz="140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E6485AF0-43C6-A616-7AD3-6BF99035EB1B}"/>
              </a:ext>
            </a:extLst>
          </p:cNvPr>
          <p:cNvGraphicFramePr>
            <a:graphicFrameLocks noGrp="1"/>
          </p:cNvGraphicFramePr>
          <p:nvPr/>
        </p:nvGraphicFramePr>
        <p:xfrm>
          <a:off x="451021" y="1156047"/>
          <a:ext cx="598685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9139">
                  <a:extLst>
                    <a:ext uri="{9D8B030D-6E8A-4147-A177-3AD203B41FA5}">
                      <a16:colId xmlns:a16="http://schemas.microsoft.com/office/drawing/2014/main" val="4079018812"/>
                    </a:ext>
                  </a:extLst>
                </a:gridCol>
                <a:gridCol w="1437391">
                  <a:extLst>
                    <a:ext uri="{9D8B030D-6E8A-4147-A177-3AD203B41FA5}">
                      <a16:colId xmlns:a16="http://schemas.microsoft.com/office/drawing/2014/main" val="2032210872"/>
                    </a:ext>
                  </a:extLst>
                </a:gridCol>
                <a:gridCol w="1264449">
                  <a:extLst>
                    <a:ext uri="{9D8B030D-6E8A-4147-A177-3AD203B41FA5}">
                      <a16:colId xmlns:a16="http://schemas.microsoft.com/office/drawing/2014/main" val="3414200797"/>
                    </a:ext>
                  </a:extLst>
                </a:gridCol>
                <a:gridCol w="1865871">
                  <a:extLst>
                    <a:ext uri="{9D8B030D-6E8A-4147-A177-3AD203B41FA5}">
                      <a16:colId xmlns:a16="http://schemas.microsoft.com/office/drawing/2014/main" val="29889544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/>
                        <a:t>铣削长度</a:t>
                      </a:r>
                      <a:r>
                        <a:rPr lang="en-US" altLang="zh-CN"/>
                        <a:t>/m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Ra/μm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Rq/μm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最大切削力</a:t>
                      </a:r>
                      <a:r>
                        <a:rPr lang="en-US" altLang="zh-CN"/>
                        <a:t>/N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919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/>
                        <a:t>0.4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0.886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1.230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100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5039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/>
                        <a:t>1.2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1.797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3.179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100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7356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/>
                        <a:t>2.0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2.257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4.393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100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4422691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640A16E2-777F-ABAD-1C1F-FB2163D7D15A}"/>
              </a:ext>
            </a:extLst>
          </p:cNvPr>
          <p:cNvSpPr txBox="1"/>
          <p:nvPr/>
        </p:nvSpPr>
        <p:spPr>
          <a:xfrm>
            <a:off x="8607145" y="2270075"/>
            <a:ext cx="910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1.6-2m</a:t>
            </a:r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495D91C-DD3E-97A5-1F9F-73FD23694C6B}"/>
              </a:ext>
            </a:extLst>
          </p:cNvPr>
          <p:cNvSpPr txBox="1"/>
          <p:nvPr/>
        </p:nvSpPr>
        <p:spPr>
          <a:xfrm>
            <a:off x="699746" y="2667256"/>
            <a:ext cx="109424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第一把刀测力的时候电脑突然死机了，仅留存部分结果，且由于材料表面不平整，切深不固定甚至存在空切</a:t>
            </a:r>
            <a:endParaRPr lang="en-US" altLang="zh-CN"/>
          </a:p>
          <a:p>
            <a:r>
              <a:rPr lang="en-US" altLang="zh-CN"/>
              <a:t>2m</a:t>
            </a:r>
            <a:r>
              <a:rPr lang="zh-CN" altLang="en-US"/>
              <a:t>之后，继续切削</a:t>
            </a:r>
            <a:r>
              <a:rPr lang="en-US" altLang="zh-CN"/>
              <a:t>0.2m</a:t>
            </a:r>
            <a:r>
              <a:rPr lang="zh-CN" altLang="en-US"/>
              <a:t>时，刀具过热断掉了。</a:t>
            </a:r>
            <a:endParaRPr lang="en-US" altLang="zh-CN"/>
          </a:p>
          <a:p>
            <a:r>
              <a:rPr lang="zh-CN" altLang="en-US"/>
              <a:t>从刀具表面看，未见到磨损，亦无切屑残留。</a:t>
            </a:r>
            <a:endParaRPr lang="en-US" altLang="zh-CN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D4F57A0A-77BC-8E9A-3EC7-AC75A596ED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9525" y="242919"/>
            <a:ext cx="4166066" cy="2027156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8A1DAFC6-5ABD-19CE-1668-C115BB02F0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199" y="3719149"/>
            <a:ext cx="3196690" cy="1798138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DEAA25E5-909D-5768-359E-A5D63F6510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7832" y="3706421"/>
            <a:ext cx="3196691" cy="1798139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8914D31F-64E4-65A0-7FB3-FC07B710A82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5932" y="3706421"/>
            <a:ext cx="3196692" cy="1798139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10A0F8FA-0941-B0F2-F90E-7365F53FFD4D}"/>
              </a:ext>
            </a:extLst>
          </p:cNvPr>
          <p:cNvSpPr txBox="1"/>
          <p:nvPr/>
        </p:nvSpPr>
        <p:spPr>
          <a:xfrm>
            <a:off x="1970633" y="5440665"/>
            <a:ext cx="7954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/>
              <a:t>1.2m</a:t>
            </a:r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CF307CC1-6689-544D-2913-C7EBBE57FBF7}"/>
              </a:ext>
            </a:extLst>
          </p:cNvPr>
          <p:cNvSpPr txBox="1"/>
          <p:nvPr/>
        </p:nvSpPr>
        <p:spPr>
          <a:xfrm>
            <a:off x="5642405" y="5435730"/>
            <a:ext cx="7954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/>
              <a:t>2m</a:t>
            </a:r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C6EF8F1-8586-D346-E02C-07D91F724791}"/>
              </a:ext>
            </a:extLst>
          </p:cNvPr>
          <p:cNvSpPr txBox="1"/>
          <p:nvPr/>
        </p:nvSpPr>
        <p:spPr>
          <a:xfrm>
            <a:off x="8933050" y="5517287"/>
            <a:ext cx="7954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/>
              <a:t>2.2m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92620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23684-661D-0C6A-139C-3931A1CBA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24A07D20-88FF-C34F-B8F6-55F11A9A833D}"/>
              </a:ext>
            </a:extLst>
          </p:cNvPr>
          <p:cNvSpPr txBox="1"/>
          <p:nvPr/>
        </p:nvSpPr>
        <p:spPr>
          <a:xfrm>
            <a:off x="451021" y="221737"/>
            <a:ext cx="27655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液氮铣削加工实验结果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165ADD5-5253-DB5A-A4EA-8505EAB046F9}"/>
              </a:ext>
            </a:extLst>
          </p:cNvPr>
          <p:cNvSpPr txBox="1"/>
          <p:nvPr/>
        </p:nvSpPr>
        <p:spPr>
          <a:xfrm>
            <a:off x="451021" y="706429"/>
            <a:ext cx="10942419" cy="365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实际走刀长度：</a:t>
            </a:r>
            <a:r>
              <a:rPr lang="en-US" altLang="zh-CN" sz="1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0.8m</a:t>
            </a:r>
            <a:endParaRPr lang="en-US" altLang="zh-CN" sz="140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FA67F384-D85D-0D79-E559-B1A0421DCEDE}"/>
              </a:ext>
            </a:extLst>
          </p:cNvPr>
          <p:cNvGraphicFramePr>
            <a:graphicFrameLocks noGrp="1"/>
          </p:cNvGraphicFramePr>
          <p:nvPr/>
        </p:nvGraphicFramePr>
        <p:xfrm>
          <a:off x="451021" y="1156047"/>
          <a:ext cx="598685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9139">
                  <a:extLst>
                    <a:ext uri="{9D8B030D-6E8A-4147-A177-3AD203B41FA5}">
                      <a16:colId xmlns:a16="http://schemas.microsoft.com/office/drawing/2014/main" val="4079018812"/>
                    </a:ext>
                  </a:extLst>
                </a:gridCol>
                <a:gridCol w="1437391">
                  <a:extLst>
                    <a:ext uri="{9D8B030D-6E8A-4147-A177-3AD203B41FA5}">
                      <a16:colId xmlns:a16="http://schemas.microsoft.com/office/drawing/2014/main" val="2032210872"/>
                    </a:ext>
                  </a:extLst>
                </a:gridCol>
                <a:gridCol w="1264449">
                  <a:extLst>
                    <a:ext uri="{9D8B030D-6E8A-4147-A177-3AD203B41FA5}">
                      <a16:colId xmlns:a16="http://schemas.microsoft.com/office/drawing/2014/main" val="3414200797"/>
                    </a:ext>
                  </a:extLst>
                </a:gridCol>
                <a:gridCol w="1865871">
                  <a:extLst>
                    <a:ext uri="{9D8B030D-6E8A-4147-A177-3AD203B41FA5}">
                      <a16:colId xmlns:a16="http://schemas.microsoft.com/office/drawing/2014/main" val="29889544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/>
                        <a:t>铣削长度</a:t>
                      </a:r>
                      <a:r>
                        <a:rPr lang="en-US" altLang="zh-CN"/>
                        <a:t>/m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Ra/μm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Rq/μm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最大切削力</a:t>
                      </a:r>
                      <a:r>
                        <a:rPr lang="en-US" altLang="zh-CN"/>
                        <a:t>/N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919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/>
                        <a:t>0.4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0.969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1.533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50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5039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/>
                        <a:t>0.8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1.529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2.090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80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7356122"/>
                  </a:ext>
                </a:extLst>
              </a:tr>
            </a:tbl>
          </a:graphicData>
        </a:graphic>
      </p:graphicFrame>
      <p:pic>
        <p:nvPicPr>
          <p:cNvPr id="10" name="图片 9">
            <a:extLst>
              <a:ext uri="{FF2B5EF4-FFF2-40B4-BE49-F238E27FC236}">
                <a16:creationId xmlns:a16="http://schemas.microsoft.com/office/drawing/2014/main" id="{E3A4A173-2693-5C58-11D1-411D19AA24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7871" y="4043818"/>
            <a:ext cx="3763706" cy="1932977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166FC0F8-EEF8-5558-5424-47922E68A0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7269" y="3946770"/>
            <a:ext cx="3906795" cy="2030025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7130AD64-F30C-7838-7EEC-376E0FDFE0B4}"/>
              </a:ext>
            </a:extLst>
          </p:cNvPr>
          <p:cNvSpPr txBox="1"/>
          <p:nvPr/>
        </p:nvSpPr>
        <p:spPr>
          <a:xfrm>
            <a:off x="7870424" y="6053819"/>
            <a:ext cx="1083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0.4-0.8m</a:t>
            </a:r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8F85E45-BE47-75FE-D7EF-1EAEFF12F7A8}"/>
              </a:ext>
            </a:extLst>
          </p:cNvPr>
          <p:cNvSpPr txBox="1"/>
          <p:nvPr/>
        </p:nvSpPr>
        <p:spPr>
          <a:xfrm>
            <a:off x="2305695" y="6053819"/>
            <a:ext cx="910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0-0.4m</a:t>
            </a:r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65F9406-9037-0C82-6258-64354C8BF2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6675" y="729632"/>
            <a:ext cx="3763706" cy="2117084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CD893AE8-6E7C-7EF0-5021-FF08DEB77B69}"/>
              </a:ext>
            </a:extLst>
          </p:cNvPr>
          <p:cNvSpPr txBox="1"/>
          <p:nvPr/>
        </p:nvSpPr>
        <p:spPr>
          <a:xfrm>
            <a:off x="8734833" y="2866343"/>
            <a:ext cx="673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0.8m</a:t>
            </a:r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FC21803-4030-52A9-3E0A-3B8AC9D6E0DE}"/>
              </a:ext>
            </a:extLst>
          </p:cNvPr>
          <p:cNvSpPr txBox="1"/>
          <p:nvPr/>
        </p:nvSpPr>
        <p:spPr>
          <a:xfrm>
            <a:off x="624790" y="2477383"/>
            <a:ext cx="58130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第二把刀。为防止过热，将喷射距离缩短至</a:t>
            </a:r>
            <a:r>
              <a:rPr lang="en-US" altLang="zh-CN"/>
              <a:t>7cm</a:t>
            </a:r>
            <a:r>
              <a:rPr lang="zh-CN" altLang="en-US"/>
              <a:t>左右。第一把刀约</a:t>
            </a:r>
            <a:r>
              <a:rPr lang="en-US" altLang="zh-CN"/>
              <a:t>15cm</a:t>
            </a:r>
            <a:r>
              <a:rPr lang="zh-CN" altLang="en-US"/>
              <a:t>。刀具不再有发红现象，切削力略有降低。刀具磨损和切屑黏附现象几乎没有。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79452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709B97F-0565-6F6A-DE32-EEAA5606FE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373" y="363702"/>
            <a:ext cx="5241464" cy="288612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9632BCF-8C74-6911-359A-E1C551D640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373" y="3336286"/>
            <a:ext cx="6151397" cy="2755631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B956F38B-7002-CBF3-05EF-7645A1555C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12" r="17298"/>
          <a:stretch>
            <a:fillRect/>
          </a:stretch>
        </p:blipFill>
        <p:spPr>
          <a:xfrm>
            <a:off x="7132047" y="272841"/>
            <a:ext cx="4205277" cy="3749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2600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D7ED5-0253-80B2-70A1-86789DD01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FC8524EE-7EEB-0C66-9349-AB9454B566D6}"/>
              </a:ext>
            </a:extLst>
          </p:cNvPr>
          <p:cNvSpPr txBox="1"/>
          <p:nvPr/>
        </p:nvSpPr>
        <p:spPr>
          <a:xfrm>
            <a:off x="451021" y="221737"/>
            <a:ext cx="27655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液氮铣削加工实验结果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AB350C0-43F1-2245-74EF-6C412DDB2D52}"/>
              </a:ext>
            </a:extLst>
          </p:cNvPr>
          <p:cNvSpPr txBox="1"/>
          <p:nvPr/>
        </p:nvSpPr>
        <p:spPr>
          <a:xfrm>
            <a:off x="501223" y="1284957"/>
            <a:ext cx="11243874" cy="4482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加工过程中，使用了垫块以隔热，但使用金属垫块依旧导热，若使用非导热材料势必因其刚度低而导致切削力数据不准确。此外，使用塑料膜仅能隔绝泠凝水，无法隔绝热量。事实上，估计测力仪表面温度小于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-20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℃。</a:t>
            </a:r>
            <a:endParaRPr lang="en-US" altLang="zh-CN" sz="16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液氮喷射过程中，压力几乎恒定，但是其射流不稳定，时多时少。且难以稳定手持。</a:t>
            </a:r>
            <a:endParaRPr lang="en-US" altLang="zh-CN" sz="16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阀门的开闭。为避免液氮浪费，需间隔开闭阀门。但由于超低温会导致阀门很难拧，即使控制压力和阀门开的位置也很难保证流量稳定。</a:t>
            </a:r>
            <a:endParaRPr lang="en-US" altLang="zh-CN" sz="16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</a:rPr>
              <a:t>实验现象总结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：第一把刀，因喷射距离较远，刀具本身温度高，黏附的切屑较多（需用超声清洗机洗过观察）。 第二把刀，喷射距离很近，刀具温度降下来，不需清洗及可观察到干净表面，但是工件温度极低，表面出现冷凝水以及气泡。 由于是磨损初期，均未观察到明显磨损。材料变脆一定程度上影响了切削力的大小。</a:t>
            </a:r>
            <a:endParaRPr lang="en-US" altLang="zh-CN" sz="16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6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一个严重问题！！！温度降低导致测力仪零点漂移极其严重，从</a:t>
            </a:r>
            <a:r>
              <a:rPr lang="en-US" altLang="zh-CN" sz="16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zh-CN" altLang="en-US" sz="16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到少量液氮的</a:t>
            </a:r>
            <a:r>
              <a:rPr lang="en-US" altLang="zh-CN" sz="16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50N</a:t>
            </a:r>
            <a:r>
              <a:rPr lang="zh-CN" altLang="en-US" sz="16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，到大量喷射甚至升高到接近</a:t>
            </a:r>
            <a:r>
              <a:rPr lang="en-US" altLang="zh-CN" sz="16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400N.</a:t>
            </a:r>
            <a:r>
              <a:rPr lang="zh-CN" altLang="en-US" sz="16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实际上的切削力仅仅在</a:t>
            </a:r>
            <a:r>
              <a:rPr lang="en-US" altLang="zh-CN" sz="16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100N</a:t>
            </a:r>
            <a:r>
              <a:rPr lang="zh-CN" altLang="en-US" sz="16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以内。</a:t>
            </a:r>
            <a:endParaRPr lang="en-US" altLang="zh-CN" sz="160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6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材料及液氮消耗问题。观察磨损间隔是否可通过切削力大小来判定？</a:t>
            </a:r>
            <a:endParaRPr lang="en-US" altLang="zh-CN" sz="160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6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改进策略： 保温措施；液氮阀门位置标定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BDA7286-D7A5-A3B5-DEFE-9C00F27490FF}"/>
              </a:ext>
            </a:extLst>
          </p:cNvPr>
          <p:cNvSpPr txBox="1"/>
          <p:nvPr/>
        </p:nvSpPr>
        <p:spPr>
          <a:xfrm>
            <a:off x="451021" y="702492"/>
            <a:ext cx="27671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实验总结、问题及改进</a:t>
            </a:r>
          </a:p>
        </p:txBody>
      </p:sp>
    </p:spTree>
    <p:extLst>
      <p:ext uri="{BB962C8B-B14F-4D97-AF65-F5344CB8AC3E}">
        <p14:creationId xmlns:p14="http://schemas.microsoft.com/office/powerpoint/2010/main" val="13967034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BA402-851A-B6E5-96D9-809B3987D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FD09EE62-F66E-5934-693A-32F04F5D454F}"/>
              </a:ext>
            </a:extLst>
          </p:cNvPr>
          <p:cNvSpPr txBox="1"/>
          <p:nvPr/>
        </p:nvSpPr>
        <p:spPr>
          <a:xfrm>
            <a:off x="451021" y="221737"/>
            <a:ext cx="12170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实验工作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13BF1EB-4881-2E81-E928-C7E78F70F5E4}"/>
              </a:ext>
            </a:extLst>
          </p:cNvPr>
          <p:cNvSpPr txBox="1"/>
          <p:nvPr/>
        </p:nvSpPr>
        <p:spPr>
          <a:xfrm>
            <a:off x="451021" y="621165"/>
            <a:ext cx="11243874" cy="442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干铣实验，电镀磨头磨削实验，液氮铣削实验。</a:t>
            </a:r>
            <a:endParaRPr lang="en-US" altLang="zh-CN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5BCFFB7-E204-C385-CDEF-822CAE1A5695}"/>
              </a:ext>
            </a:extLst>
          </p:cNvPr>
          <p:cNvSpPr txBox="1"/>
          <p:nvPr/>
        </p:nvSpPr>
        <p:spPr>
          <a:xfrm>
            <a:off x="451021" y="1160946"/>
            <a:ext cx="19912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实验现象及发现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836B956-57B9-B0E3-A25E-EA23DBE1C0CA}"/>
              </a:ext>
            </a:extLst>
          </p:cNvPr>
          <p:cNvSpPr txBox="1"/>
          <p:nvPr/>
        </p:nvSpPr>
        <p:spPr>
          <a:xfrm>
            <a:off x="451021" y="3717037"/>
            <a:ext cx="36143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问题及改进（针对液氮铣削）</a:t>
            </a:r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C87C0BC-BB16-BE63-C652-B172CDC1A680}"/>
              </a:ext>
            </a:extLst>
          </p:cNvPr>
          <p:cNvSpPr txBox="1"/>
          <p:nvPr/>
        </p:nvSpPr>
        <p:spPr>
          <a:xfrm>
            <a:off x="451021" y="1561056"/>
            <a:ext cx="11243874" cy="2104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干铣实验：进行了总长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4.2m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的铣削，可观察到刀具已失效。未进行切削力及粗糙度的测量。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电镀磨头磨削实验：证实了电镀磨头不适宜加工陶陶材料。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3.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液氮铣削实验：使用了两把刀。第一次喷射距离较远（约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15cm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）时，尽管加大流量，冷却效果微乎其微，刀具很快发红失效。第二把刀将喷射距离控制在约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7cm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，射流聚拢后冷却效果提升，但随单次切削时间变长刀具仍有发红现象，需增大流量。粗糙度与切削力曲线整体有上升趋势，但单次走刀过程的切削力变化不定。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D50DC18-08E8-8B7A-61DA-628407D40B53}"/>
              </a:ext>
            </a:extLst>
          </p:cNvPr>
          <p:cNvSpPr txBox="1"/>
          <p:nvPr/>
        </p:nvSpPr>
        <p:spPr>
          <a:xfrm>
            <a:off x="451021" y="4066038"/>
            <a:ext cx="11243874" cy="2520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测力仪温漂：已通过改进实验装置大幅减小（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200N-50N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刀具伸长猜想：台阶是由于刀具刀尖螺旋角产生的。实际热场不均匀，由刀尖向刀柄传递。且实际加工过程中，取下刀具时可感知刀柄温度极低，不存在伸长。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3.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流量控制研究：阀门开度及压力一定条件下，由于液氮罐内部紊流亦难以保证流量一致性。且实际加工中，随着刀具加工状态变化（比如声音变的尖锐，发红）适时改变流量是更优的选择。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4.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异常崩刃：在连续实验过程中，使用与先前完全一致的条件，在刀具加工第一刀时崩刃。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501422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B63F4-3B53-A4B6-43CC-03B57E8B7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1EA0620C-AF58-07FD-0078-05936FCF084D}"/>
              </a:ext>
            </a:extLst>
          </p:cNvPr>
          <p:cNvSpPr txBox="1"/>
          <p:nvPr/>
        </p:nvSpPr>
        <p:spPr>
          <a:xfrm>
            <a:off x="497105" y="3607570"/>
            <a:ext cx="12170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未来计划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8BB1A67-D099-9E1C-3AA8-45AA1D0E7B10}"/>
              </a:ext>
            </a:extLst>
          </p:cNvPr>
          <p:cNvSpPr txBox="1"/>
          <p:nvPr/>
        </p:nvSpPr>
        <p:spPr>
          <a:xfrm>
            <a:off x="451021" y="271592"/>
            <a:ext cx="36143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问题及改进（针对液氮铣削）</a:t>
            </a:r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834622E-DCF8-7CE8-1BFE-31E0AD9A079B}"/>
              </a:ext>
            </a:extLst>
          </p:cNvPr>
          <p:cNvSpPr txBox="1"/>
          <p:nvPr/>
        </p:nvSpPr>
        <p:spPr>
          <a:xfrm>
            <a:off x="497105" y="671702"/>
            <a:ext cx="11243874" cy="2935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5.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排屑问题：通过实验现象可知，刀具发红时会黏附大量切屑，而未观察到发红现象时刀具表面很干净。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6.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温度与力：刀具发红时切削力会陡增，从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80N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至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200N+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7.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磨损观察：受限于长度，拍摄端面仅可使用光学显微镜（倍数低）。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8.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装夹及平面问题：每次装夹后，第一次铣削实际上是在铣平面，切削力数据不可靠，可明显观察到切深的变化（如每一刀的曲线都是单调下降的直线）。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9.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参数问题：液氮铣削中，使用端铣，刀具全部进入，切宽为刀具直径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6mm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。而干式铣削过程中切宽仅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2mm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。可预见的是，若采用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6mm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切宽进行干铣，刀具很快会发红失效。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8233C63-72CE-A8CC-C773-5B6C53D015BF}"/>
              </a:ext>
            </a:extLst>
          </p:cNvPr>
          <p:cNvSpPr txBox="1"/>
          <p:nvPr/>
        </p:nvSpPr>
        <p:spPr>
          <a:xfrm>
            <a:off x="474063" y="3958599"/>
            <a:ext cx="11243874" cy="1273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明确研究问题。使用压力控制流量恒定不现实。已购买不同口径的喷嘴（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0.8,1.5,2,3,4,5mm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），下一步考虑研究此变量的影响。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改进实验方案。对参数进行温和化调整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543166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1257</TotalTime>
  <Words>4706</Words>
  <Application>Microsoft Office PowerPoint</Application>
  <PresentationFormat>宽屏</PresentationFormat>
  <Paragraphs>172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8" baseType="lpstr">
      <vt:lpstr>等线</vt:lpstr>
      <vt:lpstr>等线 Light</vt:lpstr>
      <vt:lpstr>黑体</vt:lpstr>
      <vt:lpstr>宋体</vt:lpstr>
      <vt:lpstr>Arial</vt:lpstr>
      <vt:lpstr>Calibri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 zhang</dc:creator>
  <cp:lastModifiedBy>yu zhang</cp:lastModifiedBy>
  <cp:revision>23</cp:revision>
  <dcterms:created xsi:type="dcterms:W3CDTF">2026-07-09T13:34:23Z</dcterms:created>
  <dcterms:modified xsi:type="dcterms:W3CDTF">2026-08-12T01:49:26Z</dcterms:modified>
</cp:coreProperties>
</file>