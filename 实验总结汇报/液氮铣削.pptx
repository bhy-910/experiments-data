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77" r:id="rId4"/>
    <p:sldId id="279" r:id="rId5"/>
    <p:sldId id="280" r:id="rId6"/>
    <p:sldId id="281" r:id="rId7"/>
    <p:sldId id="27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A013E-2E56-924F-84FB-72425B2B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1C52CE-E377-5410-85D6-6DF7E499A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F26E3-15AD-226C-364F-7710EF7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48F6F-7AAD-8D15-8874-A281975C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028876-7EF9-FAF4-F914-E789E33E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54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48530-50C7-4A96-10C3-298FF2A9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0EE8D-F949-AD75-C952-904C3749F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14C37-7338-774F-F0BC-C636110B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C90FD-6D4E-0509-ABD6-4E6274C2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1B02A-FAC3-3885-C503-FE6C4647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84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81C10-A7BA-91CD-0B29-F3C5E326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803CEA-BFC2-66FC-C48A-FE3F368DD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C8E59-39FF-C041-6786-031FD23C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18160A-72CE-8764-AF33-813A1C47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0A6750-CA35-0A1B-BD3D-80F496FB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10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B90DD-5207-F7AD-1AE3-A51AFBF6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D9661F-EF60-1439-3D7C-BCA10136A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00C5A8-8327-7CB1-69DF-978D14DF9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9699A8-2E90-05E6-0E3E-3933439E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D116FD-9B28-7400-8EF5-08C0C04C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DF94E-7A43-778A-769B-F780240E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03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90AD6-0713-A8E9-F85C-1384FED6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4A69F-1FCF-0C9E-C6BE-805B2519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BDA8FE-61D0-A323-D290-8BCF0E67D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374D0B-9CFE-165E-CD07-1279A5B1E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5CAE84-F7EB-C8C7-B81E-AC9B049F2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693577-360A-026B-F9A1-030E80B3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18C3FC-B225-FEBF-D298-96762405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6FA3D9-5183-1EC9-8178-07E06CEE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2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F2A49-22D2-F262-1672-127F1EF6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60D0CA-B94D-6CDE-E138-3CE47B7C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A9D2AA-8E49-86F2-7D64-7794AC6D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D71280-AEEA-FB4C-7F39-A13A761D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8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056D3E-5DE3-2B92-C4AA-01A7221F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5F9DC6-BB11-3094-A237-6720EE95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9EBF46-E504-3BAD-56C3-180502E2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5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2855E-C6CC-F7B5-067C-DD3F2A0E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2FA7BA-5DBE-A2E9-6877-C6B6FE2C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E57F58-0584-2ED3-25D3-0E4A4E5DE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A2BE16-70D8-C9A5-3258-2A97E298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F95763-4F03-8F66-012E-3E131A63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2694E7-DAE9-D7E2-CA19-8E349D7B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30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F5B1C-229E-DDB2-960B-73EBA5EC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FFEE7E-BA3C-A5AB-4C86-E8C0952E0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FE0849-8115-5CF4-C4C9-23BF290F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4656FE-D94D-F597-FEC0-750DC1C3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A5D097-FA38-D469-03F4-00447CDE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407822-7BD0-CBB8-7C9D-E7B6117D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7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59507-FB65-7DBE-ADBB-6E8CF7B8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0ACC8E-A223-2275-6048-9B99B16EF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C4009D-9990-5B7B-A01A-4CC6DEA67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A25E2-1563-E441-E22B-47DB3D8C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DD37F-B72B-9020-72F9-301ECB6F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12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310D10-FFB9-3080-82E9-B4316D092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9F35F9-B3C9-6CB5-676D-389772C9A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F730C-CDD8-29AF-D970-B8F6C242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ABA3A-0BF2-264C-8D91-7FFF7F1A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BEAF6-D3C5-F619-FE30-F4B5FB80A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73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751DCB-076C-7CF9-554C-433F60BD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7E5FB-B29D-9CCE-AA46-DA88D85D0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3CAEB-6DCF-775D-1577-F6046D57B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DABC6-814D-43CF-ADD6-39EFC949C6C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560B8-9232-EB56-ADF2-2F7D6CACA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329DC-1136-F489-3349-51534E95B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585BC-D823-46AD-9087-43261C2500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10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1D022E-345B-87D5-981E-44124F54DA09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液氮铣削加工实验计划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094F61-FDC2-B65E-D4D5-83032A8A36A7}"/>
                  </a:ext>
                </a:extLst>
              </p:cNvPr>
              <p:cNvSpPr txBox="1"/>
              <p:nvPr/>
            </p:nvSpPr>
            <p:spPr>
              <a:xfrm>
                <a:off x="451021" y="706429"/>
                <a:ext cx="10942419" cy="3273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实验准备：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数控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轴机床 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kistler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测力仪 自增压液氮罐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YDZ-100 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光学显微镜一台 便携式粗糙度仪一台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刀具：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PCD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微刃刀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D6-3-d6-50-28F-005  5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把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材料：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SiC/SiC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复合材料 一块  规格： 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50x50x5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𝑚𝑚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实验设计：</a:t>
                </a:r>
                <a:endPara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加工过程中，每铣削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0.4m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取下刀具，于显微镜下相同光照和放大拍摄全部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28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个刃，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预计需要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6-7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张照片用于后续统计。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同时，测量该间隔后工件表面的粗糙度，测三个点以避免随机误差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走刀路径为端铣，转速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8000rpm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，进给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200mm/min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，切深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0.1mm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。刀具直径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6mm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（实际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5.6mm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），一次表面走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刀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切削力测量：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测量全部切削力数据</a:t>
                </a: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液氮使用：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使用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罐上方压力表征流量，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控制压力在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0.15MPa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对准切削区域，即刀具和材料接触部分。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于夹具和测力仪之间放置铝合金垫块。测力仪使用塑料膜遮挡以避免冷凝水进入。</a:t>
                </a:r>
                <a:endParaRPr lang="en-US" altLang="zh-CN" sz="14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094F61-FDC2-B65E-D4D5-83032A8A3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1" y="706429"/>
                <a:ext cx="10942419" cy="3273525"/>
              </a:xfrm>
              <a:prstGeom prst="rect">
                <a:avLst/>
              </a:prstGeom>
              <a:blipFill>
                <a:blip r:embed="rId2"/>
                <a:stretch>
                  <a:fillRect l="-167" r="-1727" b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B9A57B2-E49A-45B8-37E3-FFF91D54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302" y="537265"/>
            <a:ext cx="1874109" cy="16069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87BE1CB-2C9E-A1C2-D46B-BBDE1EBC2B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287" y="4008162"/>
            <a:ext cx="2697177" cy="2020098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D4E2A1-4526-D801-3E64-F4170CDCA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44"/>
          <a:stretch>
            <a:fillRect/>
          </a:stretch>
        </p:blipFill>
        <p:spPr>
          <a:xfrm>
            <a:off x="1056098" y="4064536"/>
            <a:ext cx="2908040" cy="237249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B193FE6-DDDA-5766-606B-DBAFAD26A060}"/>
              </a:ext>
            </a:extLst>
          </p:cNvPr>
          <p:cNvCxnSpPr>
            <a:cxnSpLocks/>
          </p:cNvCxnSpPr>
          <p:nvPr/>
        </p:nvCxnSpPr>
        <p:spPr>
          <a:xfrm flipH="1" flipV="1">
            <a:off x="3799703" y="5659394"/>
            <a:ext cx="441754" cy="3688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C44170A-5F66-0226-25A0-1D8124824B8F}"/>
              </a:ext>
            </a:extLst>
          </p:cNvPr>
          <p:cNvCxnSpPr>
            <a:cxnSpLocks/>
          </p:cNvCxnSpPr>
          <p:nvPr/>
        </p:nvCxnSpPr>
        <p:spPr>
          <a:xfrm flipH="1" flipV="1">
            <a:off x="2864387" y="4850799"/>
            <a:ext cx="1713791" cy="3830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C953FD-26FD-8A1A-AD30-EC584020AE4B}"/>
              </a:ext>
            </a:extLst>
          </p:cNvPr>
          <p:cNvCxnSpPr>
            <a:cxnSpLocks/>
          </p:cNvCxnSpPr>
          <p:nvPr/>
        </p:nvCxnSpPr>
        <p:spPr>
          <a:xfrm flipH="1" flipV="1">
            <a:off x="2864387" y="5087266"/>
            <a:ext cx="1608759" cy="6268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9E59B2-2200-6FAD-8DFA-324A2599AD5A}"/>
              </a:ext>
            </a:extLst>
          </p:cNvPr>
          <p:cNvCxnSpPr>
            <a:cxnSpLocks/>
          </p:cNvCxnSpPr>
          <p:nvPr/>
        </p:nvCxnSpPr>
        <p:spPr>
          <a:xfrm flipH="1" flipV="1">
            <a:off x="2761735" y="4661731"/>
            <a:ext cx="1711411" cy="1394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3E01AD-C7A7-8AEC-2607-7A1C3785C024}"/>
              </a:ext>
            </a:extLst>
          </p:cNvPr>
          <p:cNvCxnSpPr>
            <a:cxnSpLocks/>
          </p:cNvCxnSpPr>
          <p:nvPr/>
        </p:nvCxnSpPr>
        <p:spPr>
          <a:xfrm>
            <a:off x="798560" y="4661731"/>
            <a:ext cx="1240305" cy="6973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7CC5AE5-335E-B3A3-0036-3FB4A58FF123}"/>
              </a:ext>
            </a:extLst>
          </p:cNvPr>
          <p:cNvCxnSpPr>
            <a:cxnSpLocks/>
          </p:cNvCxnSpPr>
          <p:nvPr/>
        </p:nvCxnSpPr>
        <p:spPr>
          <a:xfrm flipH="1">
            <a:off x="2712984" y="4212126"/>
            <a:ext cx="1528473" cy="2733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4E0BF57-1F39-5567-6E9F-194969C8880B}"/>
              </a:ext>
            </a:extLst>
          </p:cNvPr>
          <p:cNvSpPr txBox="1"/>
          <p:nvPr/>
        </p:nvSpPr>
        <p:spPr>
          <a:xfrm>
            <a:off x="172590" y="448550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液氮喷嘴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02E67E-77E5-6C41-32A2-EA69A5129FD7}"/>
              </a:ext>
            </a:extLst>
          </p:cNvPr>
          <p:cNvSpPr txBox="1"/>
          <p:nvPr/>
        </p:nvSpPr>
        <p:spPr>
          <a:xfrm>
            <a:off x="4308749" y="4059232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SiC/SiC</a:t>
            </a:r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材料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92E62D-4C2F-ACF8-330F-9A4B33192C00}"/>
              </a:ext>
            </a:extLst>
          </p:cNvPr>
          <p:cNvSpPr txBox="1"/>
          <p:nvPr/>
        </p:nvSpPr>
        <p:spPr>
          <a:xfrm>
            <a:off x="4473184" y="4645287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夹具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2CE8D9-F9FA-52A1-9E84-A6F660AA3317}"/>
              </a:ext>
            </a:extLst>
          </p:cNvPr>
          <p:cNvSpPr txBox="1"/>
          <p:nvPr/>
        </p:nvSpPr>
        <p:spPr>
          <a:xfrm>
            <a:off x="4619007" y="511997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垫块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A4811A-9F9F-3810-00A3-D1303BD9340E}"/>
              </a:ext>
            </a:extLst>
          </p:cNvPr>
          <p:cNvSpPr txBox="1"/>
          <p:nvPr/>
        </p:nvSpPr>
        <p:spPr>
          <a:xfrm>
            <a:off x="4308749" y="5697233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测力仪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3AFEBBA-C164-BF8C-DB59-4A45DCE0E588}"/>
              </a:ext>
            </a:extLst>
          </p:cNvPr>
          <p:cNvSpPr txBox="1"/>
          <p:nvPr/>
        </p:nvSpPr>
        <p:spPr>
          <a:xfrm>
            <a:off x="4100061" y="6073182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保护膜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7E9C3E6-6E9F-41FA-5019-CDD32148E2D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2" t="10271" r="24206" b="12069"/>
          <a:stretch>
            <a:fillRect/>
          </a:stretch>
        </p:blipFill>
        <p:spPr>
          <a:xfrm>
            <a:off x="5669775" y="4059232"/>
            <a:ext cx="2141635" cy="1891917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0B0781FC-4239-A6FA-1359-EDCF351650AB}"/>
              </a:ext>
            </a:extLst>
          </p:cNvPr>
          <p:cNvSpPr/>
          <p:nvPr/>
        </p:nvSpPr>
        <p:spPr>
          <a:xfrm>
            <a:off x="10089292" y="5813855"/>
            <a:ext cx="426308" cy="120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02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036AD51-E5F8-F251-7931-38C3EA966241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4DC86D-A262-4356-F02E-5E64F62D4A94}"/>
              </a:ext>
            </a:extLst>
          </p:cNvPr>
          <p:cNvSpPr txBox="1"/>
          <p:nvPr/>
        </p:nvSpPr>
        <p:spPr>
          <a:xfrm>
            <a:off x="451021" y="706429"/>
            <a:ext cx="10942419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实际走刀长度：</a:t>
            </a:r>
            <a:r>
              <a:rPr lang="en-US" altLang="zh-CN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2m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6485AF0-43C6-A616-7AD3-6BF99035E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157953"/>
              </p:ext>
            </p:extLst>
          </p:nvPr>
        </p:nvGraphicFramePr>
        <p:xfrm>
          <a:off x="451021" y="1156047"/>
          <a:ext cx="5986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139">
                  <a:extLst>
                    <a:ext uri="{9D8B030D-6E8A-4147-A177-3AD203B41FA5}">
                      <a16:colId xmlns:a16="http://schemas.microsoft.com/office/drawing/2014/main" val="4079018812"/>
                    </a:ext>
                  </a:extLst>
                </a:gridCol>
                <a:gridCol w="1437391">
                  <a:extLst>
                    <a:ext uri="{9D8B030D-6E8A-4147-A177-3AD203B41FA5}">
                      <a16:colId xmlns:a16="http://schemas.microsoft.com/office/drawing/2014/main" val="2032210872"/>
                    </a:ext>
                  </a:extLst>
                </a:gridCol>
                <a:gridCol w="1264449">
                  <a:extLst>
                    <a:ext uri="{9D8B030D-6E8A-4147-A177-3AD203B41FA5}">
                      <a16:colId xmlns:a16="http://schemas.microsoft.com/office/drawing/2014/main" val="3414200797"/>
                    </a:ext>
                  </a:extLst>
                </a:gridCol>
                <a:gridCol w="1865871">
                  <a:extLst>
                    <a:ext uri="{9D8B030D-6E8A-4147-A177-3AD203B41FA5}">
                      <a16:colId xmlns:a16="http://schemas.microsoft.com/office/drawing/2014/main" val="2988954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铣削长度</a:t>
                      </a:r>
                      <a:r>
                        <a:rPr lang="en-US" altLang="zh-CN"/>
                        <a:t>/m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Ra/μm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Rq/μm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最大切削力</a:t>
                      </a:r>
                      <a:r>
                        <a:rPr lang="en-US" altLang="zh-CN"/>
                        <a:t>/N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0.886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1.230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3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1.2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1.797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3.179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2.0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2.257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4.393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42269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40A16E2-777F-ABAD-1C1F-FB2163D7D15A}"/>
              </a:ext>
            </a:extLst>
          </p:cNvPr>
          <p:cNvSpPr txBox="1"/>
          <p:nvPr/>
        </p:nvSpPr>
        <p:spPr>
          <a:xfrm>
            <a:off x="8607145" y="2270075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1.6-2m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95D91C-DD3E-97A5-1F9F-73FD23694C6B}"/>
              </a:ext>
            </a:extLst>
          </p:cNvPr>
          <p:cNvSpPr txBox="1"/>
          <p:nvPr/>
        </p:nvSpPr>
        <p:spPr>
          <a:xfrm>
            <a:off x="699746" y="2667256"/>
            <a:ext cx="10942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第一把刀测力的时候电脑突然死机了，仅留存部分结果，且由于材料表面不平整，切深不固定甚至存在空切</a:t>
            </a:r>
            <a:endParaRPr lang="en-US" altLang="zh-CN"/>
          </a:p>
          <a:p>
            <a:r>
              <a:rPr lang="en-US" altLang="zh-CN"/>
              <a:t>2m</a:t>
            </a:r>
            <a:r>
              <a:rPr lang="zh-CN" altLang="en-US"/>
              <a:t>之后，继续切削</a:t>
            </a:r>
            <a:r>
              <a:rPr lang="en-US" altLang="zh-CN"/>
              <a:t>0.2m</a:t>
            </a:r>
            <a:r>
              <a:rPr lang="zh-CN" altLang="en-US"/>
              <a:t>时，刀具过热断掉了。</a:t>
            </a:r>
            <a:endParaRPr lang="en-US" altLang="zh-CN"/>
          </a:p>
          <a:p>
            <a:r>
              <a:rPr lang="zh-CN" altLang="en-US"/>
              <a:t>从刀具表面看，未见到磨损，亦无切屑残留。</a:t>
            </a:r>
            <a:endParaRPr lang="en-US" altLang="zh-CN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4F57A0A-77BC-8E9A-3EC7-AC75A596E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503" y="619515"/>
            <a:ext cx="3392113" cy="165056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A1DAFC6-5ABD-19CE-1668-C115BB02F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" y="3706422"/>
            <a:ext cx="3196690" cy="179813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EAA25E5-909D-5768-359E-A5D63F651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832" y="3706421"/>
            <a:ext cx="3196691" cy="179813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914D31F-64E4-65A0-7FB3-FC07B710A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932" y="3706421"/>
            <a:ext cx="3196692" cy="179813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10A0F8FA-0941-B0F2-F90E-7365F53FFD4D}"/>
              </a:ext>
            </a:extLst>
          </p:cNvPr>
          <p:cNvSpPr txBox="1"/>
          <p:nvPr/>
        </p:nvSpPr>
        <p:spPr>
          <a:xfrm>
            <a:off x="1970633" y="5440665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1.2m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307CC1-6689-544D-2913-C7EBBE57FBF7}"/>
              </a:ext>
            </a:extLst>
          </p:cNvPr>
          <p:cNvSpPr txBox="1"/>
          <p:nvPr/>
        </p:nvSpPr>
        <p:spPr>
          <a:xfrm>
            <a:off x="5642405" y="5435730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2m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6EF8F1-8586-D346-E02C-07D91F724791}"/>
              </a:ext>
            </a:extLst>
          </p:cNvPr>
          <p:cNvSpPr txBox="1"/>
          <p:nvPr/>
        </p:nvSpPr>
        <p:spPr>
          <a:xfrm>
            <a:off x="8933050" y="5517287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2.2m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26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3684-661D-0C6A-139C-3931A1CB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4A07D20-88FF-C34F-B8F6-55F11A9A833D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65ADD5-5253-DB5A-A4EA-8505EAB046F9}"/>
              </a:ext>
            </a:extLst>
          </p:cNvPr>
          <p:cNvSpPr txBox="1"/>
          <p:nvPr/>
        </p:nvSpPr>
        <p:spPr>
          <a:xfrm>
            <a:off x="451021" y="706429"/>
            <a:ext cx="10942419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实际走刀长度：</a:t>
            </a:r>
            <a:r>
              <a:rPr lang="en-US" altLang="zh-CN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0.8m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A67F384-D85D-0D79-E559-B1A0421DC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17661"/>
              </p:ext>
            </p:extLst>
          </p:nvPr>
        </p:nvGraphicFramePr>
        <p:xfrm>
          <a:off x="451021" y="1156047"/>
          <a:ext cx="59868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139">
                  <a:extLst>
                    <a:ext uri="{9D8B030D-6E8A-4147-A177-3AD203B41FA5}">
                      <a16:colId xmlns:a16="http://schemas.microsoft.com/office/drawing/2014/main" val="4079018812"/>
                    </a:ext>
                  </a:extLst>
                </a:gridCol>
                <a:gridCol w="1437391">
                  <a:extLst>
                    <a:ext uri="{9D8B030D-6E8A-4147-A177-3AD203B41FA5}">
                      <a16:colId xmlns:a16="http://schemas.microsoft.com/office/drawing/2014/main" val="2032210872"/>
                    </a:ext>
                  </a:extLst>
                </a:gridCol>
                <a:gridCol w="1264449">
                  <a:extLst>
                    <a:ext uri="{9D8B030D-6E8A-4147-A177-3AD203B41FA5}">
                      <a16:colId xmlns:a16="http://schemas.microsoft.com/office/drawing/2014/main" val="3414200797"/>
                    </a:ext>
                  </a:extLst>
                </a:gridCol>
                <a:gridCol w="1865871">
                  <a:extLst>
                    <a:ext uri="{9D8B030D-6E8A-4147-A177-3AD203B41FA5}">
                      <a16:colId xmlns:a16="http://schemas.microsoft.com/office/drawing/2014/main" val="2988954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铣削长度</a:t>
                      </a:r>
                      <a:r>
                        <a:rPr lang="en-US" altLang="zh-CN"/>
                        <a:t>/m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Ra/μm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Rq/μm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最大切削力</a:t>
                      </a:r>
                      <a:r>
                        <a:rPr lang="en-US" altLang="zh-CN"/>
                        <a:t>/N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0.969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1.533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50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3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1.529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2.090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6122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E3A4A173-2693-5C58-11D1-411D19AA2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871" y="4043818"/>
            <a:ext cx="3763706" cy="19329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6FC0F8-EEF8-5558-5424-47922E68A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37" y="4043817"/>
            <a:ext cx="3720025" cy="193297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30AD64-F30C-7838-7EEC-376E0FDFE0B4}"/>
              </a:ext>
            </a:extLst>
          </p:cNvPr>
          <p:cNvSpPr txBox="1"/>
          <p:nvPr/>
        </p:nvSpPr>
        <p:spPr>
          <a:xfrm>
            <a:off x="7870424" y="605381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0.4-0.8m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F85E45-BE47-75FE-D7EF-1EAEFF12F7A8}"/>
              </a:ext>
            </a:extLst>
          </p:cNvPr>
          <p:cNvSpPr txBox="1"/>
          <p:nvPr/>
        </p:nvSpPr>
        <p:spPr>
          <a:xfrm>
            <a:off x="2305695" y="605381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0-0.4m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5F9406-9037-0C82-6258-64354C8BF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675" y="729632"/>
            <a:ext cx="3763706" cy="211708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893AE8-6E7C-7EF0-5021-FF08DEB77B69}"/>
              </a:ext>
            </a:extLst>
          </p:cNvPr>
          <p:cNvSpPr txBox="1"/>
          <p:nvPr/>
        </p:nvSpPr>
        <p:spPr>
          <a:xfrm>
            <a:off x="8734833" y="286634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0.8m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C21803-4030-52A9-3E0A-3B8AC9D6E0DE}"/>
              </a:ext>
            </a:extLst>
          </p:cNvPr>
          <p:cNvSpPr txBox="1"/>
          <p:nvPr/>
        </p:nvSpPr>
        <p:spPr>
          <a:xfrm>
            <a:off x="624790" y="2477383"/>
            <a:ext cx="5813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第二把刀。为防止过热，将喷射距离缩短至</a:t>
            </a:r>
            <a:r>
              <a:rPr lang="en-US" altLang="zh-CN"/>
              <a:t>7cm</a:t>
            </a:r>
            <a:r>
              <a:rPr lang="zh-CN" altLang="en-US"/>
              <a:t>左右。第一把刀约</a:t>
            </a:r>
            <a:r>
              <a:rPr lang="en-US" altLang="zh-CN"/>
              <a:t>15cm</a:t>
            </a:r>
            <a:r>
              <a:rPr lang="zh-CN" altLang="en-US"/>
              <a:t>。刀具不再有发红现象，切削力略有降低。刀具磨损和切屑黏附现象几乎没有。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4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7BCE269-C075-6D0A-716E-B8CC206CB658}"/>
              </a:ext>
            </a:extLst>
          </p:cNvPr>
          <p:cNvSpPr txBox="1"/>
          <p:nvPr/>
        </p:nvSpPr>
        <p:spPr>
          <a:xfrm>
            <a:off x="687345" y="3488323"/>
            <a:ext cx="6094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整体趋势是，</a:t>
            </a:r>
            <a:r>
              <a:rPr lang="en-US" altLang="zh-CN"/>
              <a:t>1.6m</a:t>
            </a:r>
            <a:r>
              <a:rPr lang="zh-CN" altLang="en-US"/>
              <a:t>以前切削力逐渐增加，之后略有降低。</a:t>
            </a:r>
            <a:endParaRPr lang="en-US" altLang="zh-CN"/>
          </a:p>
          <a:p>
            <a:r>
              <a:rPr lang="zh-CN" altLang="en-US"/>
              <a:t>图中低谷为空切，尖峰为刀具过热。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表面粗糙度则是在</a:t>
            </a:r>
            <a:r>
              <a:rPr lang="en-US" altLang="zh-CN"/>
              <a:t>2.2m</a:t>
            </a:r>
            <a:r>
              <a:rPr lang="zh-CN" altLang="en-US"/>
              <a:t>时达到顶峰，之后回归之前水平。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618A8D-18CD-3824-BEA4-3C466FAD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471" y="415020"/>
            <a:ext cx="5923866" cy="2653704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7F395CEB-6B34-598C-9660-34F1AC59352B}"/>
              </a:ext>
            </a:extLst>
          </p:cNvPr>
          <p:cNvGrpSpPr/>
          <p:nvPr/>
        </p:nvGrpSpPr>
        <p:grpSpPr>
          <a:xfrm>
            <a:off x="492650" y="415020"/>
            <a:ext cx="4814578" cy="2653705"/>
            <a:chOff x="492650" y="415020"/>
            <a:chExt cx="4814578" cy="265370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483EB9B-B87D-B303-3289-BE916BAFE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650" y="415020"/>
              <a:ext cx="4814578" cy="2653705"/>
            </a:xfrm>
            <a:prstGeom prst="rect">
              <a:avLst/>
            </a:prstGeom>
          </p:spPr>
        </p:pic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61261D7-2C23-CA50-C9A1-DDB465653544}"/>
                </a:ext>
              </a:extLst>
            </p:cNvPr>
            <p:cNvCxnSpPr/>
            <p:nvPr/>
          </p:nvCxnSpPr>
          <p:spPr>
            <a:xfrm>
              <a:off x="1495168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89E2558-6862-BC5C-11C9-5E6E64EBDD5A}"/>
                </a:ext>
              </a:extLst>
            </p:cNvPr>
            <p:cNvCxnSpPr/>
            <p:nvPr/>
          </p:nvCxnSpPr>
          <p:spPr>
            <a:xfrm>
              <a:off x="2057400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FF81683-0946-FC3E-65B4-16210FCF3538}"/>
                </a:ext>
              </a:extLst>
            </p:cNvPr>
            <p:cNvCxnSpPr/>
            <p:nvPr/>
          </p:nvCxnSpPr>
          <p:spPr>
            <a:xfrm>
              <a:off x="2601098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755E12C-0212-018F-41C6-DE0E63DBADC9}"/>
                </a:ext>
              </a:extLst>
            </p:cNvPr>
            <p:cNvCxnSpPr/>
            <p:nvPr/>
          </p:nvCxnSpPr>
          <p:spPr>
            <a:xfrm>
              <a:off x="3169508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39C765F-41E5-80E9-ACE5-7C3C6932A393}"/>
                </a:ext>
              </a:extLst>
            </p:cNvPr>
            <p:cNvCxnSpPr/>
            <p:nvPr/>
          </p:nvCxnSpPr>
          <p:spPr>
            <a:xfrm>
              <a:off x="3731741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A41F946-ABDF-5F7C-CC0B-5B68B6BBF652}"/>
                </a:ext>
              </a:extLst>
            </p:cNvPr>
            <p:cNvCxnSpPr/>
            <p:nvPr/>
          </p:nvCxnSpPr>
          <p:spPr>
            <a:xfrm>
              <a:off x="4287795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A6E7C0E-4A85-D3D2-8DC3-D66107C90FCC}"/>
                </a:ext>
              </a:extLst>
            </p:cNvPr>
            <p:cNvCxnSpPr/>
            <p:nvPr/>
          </p:nvCxnSpPr>
          <p:spPr>
            <a:xfrm>
              <a:off x="4862384" y="1217141"/>
              <a:ext cx="0" cy="1470454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961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>
            <a:extLst>
              <a:ext uri="{FF2B5EF4-FFF2-40B4-BE49-F238E27FC236}">
                <a16:creationId xmlns:a16="http://schemas.microsoft.com/office/drawing/2014/main" id="{2E6ECD22-26AC-BD88-8647-2864BAC3E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43" y="145019"/>
            <a:ext cx="5128054" cy="263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图片 1">
            <a:extLst>
              <a:ext uri="{FF2B5EF4-FFF2-40B4-BE49-F238E27FC236}">
                <a16:creationId xmlns:a16="http://schemas.microsoft.com/office/drawing/2014/main" id="{B11E9654-D9E5-236C-FE57-A04552768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65" y="3044926"/>
            <a:ext cx="5134232" cy="269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467D64-38B3-E3CC-958C-A033DDF36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862486" cy="32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59ECA-4883-1131-5C42-360DF7274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129" y="2783527"/>
            <a:ext cx="163726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1.2-1.6m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切削力数据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D96108-3F49-3138-F08F-24CA81B0E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21" y="6171735"/>
            <a:ext cx="55483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对相同位置的切削力形状分析。第二、三刀，上图为凸型，下图为凹型。第五、六刀，上图为单调增，下图为单调减。其余位置为平均值上下波动。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0129AF-1CB2-DA56-9C3B-35EC220CBA1D}"/>
              </a:ext>
            </a:extLst>
          </p:cNvPr>
          <p:cNvSpPr txBox="1"/>
          <p:nvPr/>
        </p:nvSpPr>
        <p:spPr>
          <a:xfrm>
            <a:off x="2143897" y="5863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F59FDE-FC57-AC18-8047-263F982350E7}"/>
              </a:ext>
            </a:extLst>
          </p:cNvPr>
          <p:cNvSpPr txBox="1"/>
          <p:nvPr/>
        </p:nvSpPr>
        <p:spPr>
          <a:xfrm>
            <a:off x="1655806" y="5777998"/>
            <a:ext cx="6227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1.6-2.0m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切削力数据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0C805A-A6DB-94E4-3AC9-004699D50148}"/>
              </a:ext>
            </a:extLst>
          </p:cNvPr>
          <p:cNvSpPr/>
          <p:nvPr/>
        </p:nvSpPr>
        <p:spPr>
          <a:xfrm>
            <a:off x="1273854" y="958543"/>
            <a:ext cx="687376" cy="40359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8919A-B04F-F001-DA1A-071B56E7E483}"/>
              </a:ext>
            </a:extLst>
          </p:cNvPr>
          <p:cNvSpPr/>
          <p:nvPr/>
        </p:nvSpPr>
        <p:spPr>
          <a:xfrm>
            <a:off x="930166" y="4207209"/>
            <a:ext cx="687376" cy="403598"/>
          </a:xfrm>
          <a:prstGeom prst="rect">
            <a:avLst/>
          </a:prstGeom>
          <a:noFill/>
          <a:ln w="28575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E3FF2B-B68B-CEDA-0CAF-52BAD3BB3262}"/>
              </a:ext>
            </a:extLst>
          </p:cNvPr>
          <p:cNvSpPr/>
          <p:nvPr/>
        </p:nvSpPr>
        <p:spPr>
          <a:xfrm>
            <a:off x="2236262" y="677635"/>
            <a:ext cx="687376" cy="40359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3ED7E1-15D3-C6D4-B5AB-21BCB6B1CD6D}"/>
              </a:ext>
            </a:extLst>
          </p:cNvPr>
          <p:cNvSpPr/>
          <p:nvPr/>
        </p:nvSpPr>
        <p:spPr>
          <a:xfrm>
            <a:off x="1892574" y="3804750"/>
            <a:ext cx="687376" cy="403598"/>
          </a:xfrm>
          <a:prstGeom prst="rect">
            <a:avLst/>
          </a:prstGeom>
          <a:noFill/>
          <a:ln w="28575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9F220C-B227-736F-128D-621301012A36}"/>
              </a:ext>
            </a:extLst>
          </p:cNvPr>
          <p:cNvSpPr txBox="1"/>
          <p:nvPr/>
        </p:nvSpPr>
        <p:spPr>
          <a:xfrm>
            <a:off x="1448057" y="5826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凸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15DE72-0B48-C623-BBD4-D5A830AF558B}"/>
              </a:ext>
            </a:extLst>
          </p:cNvPr>
          <p:cNvSpPr txBox="1"/>
          <p:nvPr/>
        </p:nvSpPr>
        <p:spPr>
          <a:xfrm>
            <a:off x="1066105" y="38047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31FA2F-8097-4873-07BA-927DD37DCA9D}"/>
              </a:ext>
            </a:extLst>
          </p:cNvPr>
          <p:cNvSpPr txBox="1"/>
          <p:nvPr/>
        </p:nvSpPr>
        <p:spPr>
          <a:xfrm>
            <a:off x="2028513" y="33927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68FB41-921F-01C5-0202-CE3C506EC470}"/>
              </a:ext>
            </a:extLst>
          </p:cNvPr>
          <p:cNvSpPr txBox="1"/>
          <p:nvPr/>
        </p:nvSpPr>
        <p:spPr>
          <a:xfrm>
            <a:off x="2361683" y="3026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7B12889-455A-7CB2-7A8D-70E8FDA36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574" y="3013203"/>
            <a:ext cx="5046608" cy="269995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CCDA669-206D-08FA-FC7F-D038F42C80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574" y="163727"/>
            <a:ext cx="4990383" cy="2570423"/>
          </a:xfrm>
          <a:prstGeom prst="rect">
            <a:avLst/>
          </a:prstGeom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E21CD373-FCB5-9E93-1B55-36CA4171D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465" y="2757965"/>
            <a:ext cx="163726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2.0-2.4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切削力数据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003AA01A-FBC1-3A77-633C-BDF6DE289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035" y="5709338"/>
            <a:ext cx="163726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2.4-2.8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切削力数据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2ACEC0B-AA2D-5DFA-FD78-060AF039A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574" y="5938373"/>
            <a:ext cx="55483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对相同位置的切削力形状分析。仅第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刀有互补趋势，其余为相同趋势。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考虑引入新的变量，即切削力变化程度，用斜率表示。可注意到左下图第五六刀下降幅度大于左上图增加幅度，即下降的更多，代表切深更小，所以在下一刀（右上图）出现增加趋势。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383239-7537-30CC-BAF6-425AA90FA38B}"/>
              </a:ext>
            </a:extLst>
          </p:cNvPr>
          <p:cNvSpPr txBox="1"/>
          <p:nvPr/>
        </p:nvSpPr>
        <p:spPr>
          <a:xfrm>
            <a:off x="7813171" y="2259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EA7485-6B22-BD35-8060-D454F15A84C5}"/>
              </a:ext>
            </a:extLst>
          </p:cNvPr>
          <p:cNvSpPr/>
          <p:nvPr/>
        </p:nvSpPr>
        <p:spPr>
          <a:xfrm>
            <a:off x="7883610" y="551666"/>
            <a:ext cx="345059" cy="62271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E28310-3114-96C8-9DA5-E971A2CB2198}"/>
              </a:ext>
            </a:extLst>
          </p:cNvPr>
          <p:cNvSpPr/>
          <p:nvPr/>
        </p:nvSpPr>
        <p:spPr>
          <a:xfrm>
            <a:off x="8017371" y="4054275"/>
            <a:ext cx="271168" cy="403598"/>
          </a:xfrm>
          <a:prstGeom prst="rect">
            <a:avLst/>
          </a:prstGeom>
          <a:noFill/>
          <a:ln w="28575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77EF2B-00E8-73B0-9758-879ED5DA3DE5}"/>
              </a:ext>
            </a:extLst>
          </p:cNvPr>
          <p:cNvSpPr txBox="1"/>
          <p:nvPr/>
        </p:nvSpPr>
        <p:spPr>
          <a:xfrm>
            <a:off x="7945601" y="3604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</a:p>
        </p:txBody>
      </p:sp>
    </p:spTree>
    <p:extLst>
      <p:ext uri="{BB962C8B-B14F-4D97-AF65-F5344CB8AC3E}">
        <p14:creationId xmlns:p14="http://schemas.microsoft.com/office/powerpoint/2010/main" val="172531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6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7ED5-0253-80B2-70A1-86789DD0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C8524EE-7EEB-0C66-9349-AB9454B566D6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B350C0-43F1-2245-74EF-6C412DDB2D52}"/>
              </a:ext>
            </a:extLst>
          </p:cNvPr>
          <p:cNvSpPr txBox="1"/>
          <p:nvPr/>
        </p:nvSpPr>
        <p:spPr>
          <a:xfrm>
            <a:off x="501223" y="1284957"/>
            <a:ext cx="11243874" cy="448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加工过程中，使用了垫块以隔热，但使用金属垫块依旧导热，若使用非导热材料势必因其刚度低而导致切削力数据不准确。此外，使用塑料膜仅能隔绝泠凝水，无法隔绝热量。事实上，估计测力仪表面温度小于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-20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℃。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液氮喷射过程中，压力几乎恒定，但是其射流不稳定，时多时少。且难以稳定手持。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阀门的开闭。为避免液氮浪费，需间隔开闭阀门。但由于超低温会导致阀门很难拧，即使控制压力和阀门开的位置也很难保证流量稳定。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实验现象总结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：第一把刀，因喷射距离较远，刀具本身温度高，黏附的切屑较多（需用超声清洗机洗过观察）。 第二把刀，喷射距离很近，刀具温度降下来，不需清洗及可观察到干净表面，但是工件温度极低，表面出现冷凝水以及气泡。 由于是磨损初期，均未观察到明显磨损。材料变脆一定程度上影响了切削力的大小。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一个严重问题！！！温度降低导致测力仪零点漂移极其严重，从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到少量液氮的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50N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，到大量喷射甚至升高到接近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400N.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实际上的切削力仅仅在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100N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以内。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材料及液氮消耗问题。观察磨损间隔是否可通过切削力大小来判定？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改进策略： 保温措施；液氮阀门位置标定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DA7286-D7A5-A3B5-DEFE-9C00F27490FF}"/>
              </a:ext>
            </a:extLst>
          </p:cNvPr>
          <p:cNvSpPr txBox="1"/>
          <p:nvPr/>
        </p:nvSpPr>
        <p:spPr>
          <a:xfrm>
            <a:off x="451021" y="702492"/>
            <a:ext cx="2767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实验总结、问题及改进</a:t>
            </a:r>
          </a:p>
        </p:txBody>
      </p:sp>
    </p:spTree>
    <p:extLst>
      <p:ext uri="{BB962C8B-B14F-4D97-AF65-F5344CB8AC3E}">
        <p14:creationId xmlns:p14="http://schemas.microsoft.com/office/powerpoint/2010/main" val="139670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1303</Words>
  <Application>Microsoft Office PowerPoint</Application>
  <PresentationFormat>宽屏</PresentationFormat>
  <Paragraphs>85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黑体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zhang</dc:creator>
  <cp:lastModifiedBy>yu zhang</cp:lastModifiedBy>
  <cp:revision>14</cp:revision>
  <dcterms:created xsi:type="dcterms:W3CDTF">2026-07-30T03:28:54Z</dcterms:created>
  <dcterms:modified xsi:type="dcterms:W3CDTF">2026-08-05T15:00:14Z</dcterms:modified>
</cp:coreProperties>
</file>